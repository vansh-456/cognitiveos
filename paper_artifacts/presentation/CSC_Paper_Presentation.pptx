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presenting Cognitive State Compilation, or CSC. This work addresses the critical bottleneck in long-horizon LLM agents: the Token Budget Crisis. Rather than treating memory as an unstructured buffer or relying on single-source RAG, we formalize the construction of the transient reasoning state as a constrained 0/1 knapsack over heterogeneous pools of knowledge, experience, and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top-line results: CSC achieves 100% state coverage at just 500 tokens, translating to an 88.9% F1 on live LLM evaluation with Groq Qwen3.6-27B. Crucially, on long-horizon multi-turn benchmarks, CSC maintains 100% state retention up to horizon N=16 within a strict 512-token envelope, outperforming MEM1 without any reinforcement learning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long-horizon agency break down? Agents accumulate past thoughts, search results, and tool outputs. Putting everything into the prompt causes latency explosion and reasoning degradation. Furthermore, agents don't just consume text—they balance three fundamentally different resource pools: Knowledge, Experience, and Computation. We need a compiler that selects across all three.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compares CSC directly against prior long-horizon systems like MemGPT, A-MEM, and MEM1. Prior works optimize memory in silos: how to store notes, how to do top-k retrieval, or how to train RL policies. CSC is the first system to formalize state assembly as an explicit, cross-resource knapsack problem that jointly considers knowledge, experience, and computation under a hard token budget.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mathematical core. We pose state construction as a 0/1 knapsack. Given task tau and budget B, we select subset S that maximizes utility sum under the budget ceiling. Crucially, we use Dantzig's utility density: utility divided by token cost. A compact tool result that costs 40 tokens can offer far higher return-on-tokens than a rambling 500-token document.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depicts the end-to-end modular pipeline. It consists of five decoupled stages: Candidate aggregation, 9-D Feature Extraction, GBT Scoring, Greedy Knapsack Selection, and State Composition. Because each module has a clean API, the scorer can be swapped without touching the selector, and the greedy selector can be swapped for exact dynamic programming if needed.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GBT utility scorer operates on a 9-dimensional feature representation. It combines lexical similarity, entity overlap, one-hot type indicators, and token costs. With 5-fold CV, it achieves 98.6% accuracy and 94.2% F1. Importantly, we disclose that the scorer was trained on required-fact labels, meaning it serves as a high-fidelity utility approximator rather than an OOD generalizer.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natural question in knapsack problems is whether the greedy heuristic loses optimality. We conducted an exact dynamic programming audit across all four domains. The measured optimality gap was 0.0% across all domains. Greedy selection runs in under 0.15 milliseconds—a 5x speedup over exact DP—which is orders of magnitude faster than a single LLM token generation.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CSC across four distinct task distributions representing multi-hop reasoning, open QA, multi-turn dialog, and interactive web tool use. We compare CSC against five competitive baselines: Full Context, Standard RAG, Memory RAG, Relevance-Only selection, and a controlled MEM1-style recurrent buffer baseline.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Table 2 at the primary 500-token operating point on HotpotQA: CSC is the only method reaching 100% state coverage. Standard RAG and Memory RAG stall at 83.3%, while Full Context and MEM1 only manage 60%. Notice that CSC used fewer tokens (459.6) than Memory RAG (469.3) and Relevance-Only (486.0). Figure 1(a) shows that baselines require up to 4000 tokens to reach what CSC achieves at 500.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1(b) plots coverage against actual tokens consumed. CSC sits furthest to the left on the Pareto frontier. It achieves complete coverage at under 500 actual tokens, whereas competing baselines consume 1,400 to 1,600 tokens. In production LLM deployments, that represents a 3x to 4x reduction in context ingestion cost and latency.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state coverage translate to end-to-end task success? We fed the compiled states into Groq-hosted Qwen3.6-27B at temperature 0. CSC achieves 88.9% answer F1—beating Standard RAG by 22.2 percentage points and Full Context by nearly 39 points. We also observed that expanding the budget from 500 to 1000 tokens yielded no further F1 gain, confirming that the compiled state was already saturated at 500 tokens.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 is one of our most important empirical results: comparing CSC directly against MEM1 across multi-turn horizons up to N=16. MEM1 uses RL to compress state into a compact recurrent vector, but its retention decays monotonically from 94% down to 82%. Full-context retains 100% of facts, but explodes beyond 3,150 tokens. CSC achieves the best of both worlds: 100% retention at all horizons while strictly staying within the 512-token budget, without any RL training.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what drives CSC's gains, we performed systematic component ablations. The most dramatic finding: removing resource-type awareness causes coverage to plunge from 100% down to 75.6%—a 24.4 point drop! Replacing the learned GBT with our dense heuristic fallback costs 4.4 percentage points. This proves that treating heterogeneous resources with modality-aware representations is what truly shields the agent from distractors.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8 and Figure 5 show an emergent behavior of our knapsack compiler: When budget is tight (B=200), the compiler allocates 60% of the budget to compact experience notes and computation scratchpads. As budget increases to 4,000 tokens, the knowledge share steadily grows to 82%. The compiler naturally shifts from high-density compact notes to detailed knowledge passages as capacity permits.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accordance with strict scientific integrity, we openly disclose the boundaries of this work. The GBT scorer was trained on the required facts signal, so high CV accuracy reflects in-distribution fidelity rather than OOD generalization. Our proof-of-concept on WebShop covers five curated tasks. Looking forward, we are extending CSC to disjoint cross-domain scorers, dynamic per-turn budget prediction, and hierarchical compilation for billion-token repositories.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371600"/>
            <a:ext cx="9448495" cy="411480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645920"/>
            <a:ext cx="8869680" cy="3566160"/>
          </a:xfrm>
          <a:prstGeom prst="rect">
            <a:avLst/>
          </a:prstGeom>
          <a:noFill/>
        </p:spPr>
        <p:txBody>
          <a:bodyPr wrap="square">
            <a:spAutoFit/>
          </a:bodyPr>
          <a:lstStyle/>
          <a:p>
            <a:pPr>
              <a:spcAft>
                <a:spcPts val="1400"/>
              </a:spcAft>
              <a:defRPr sz="1300" b="1">
                <a:solidFill>
                  <a:srgbClr val="38BDF8"/>
                </a:solidFill>
                <a:latin typeface="Segoe UI"/>
              </a:defRPr>
            </a:pPr>
            <a:r>
              <a:t>RESEARCH PAPER PRESENTATION</a:t>
            </a:r>
          </a:p>
          <a:p>
            <a:pPr>
              <a:defRPr sz="3600" b="1">
                <a:solidFill>
                  <a:srgbClr val="F8FAFC"/>
                </a:solidFill>
                <a:latin typeface="Segoe UI"/>
              </a:defRPr>
            </a:pPr>
            <a:r>
              <a:t>Cognitive State Compilation</a:t>
            </a:r>
          </a:p>
          <a:p>
            <a:pPr>
              <a:spcAft>
                <a:spcPts val="2400"/>
              </a:spcAft>
              <a:defRPr sz="2000">
                <a:solidFill>
                  <a:srgbClr val="34D399"/>
                </a:solidFill>
                <a:latin typeface="Segoe UI"/>
              </a:defRPr>
            </a:pPr>
            <a:r>
              <a:t>Resource-Bounded Construction of Reasoning States for Long-Horizon LLM Agents</a:t>
            </a:r>
          </a:p>
          <a:p>
            <a:pPr>
              <a:spcAft>
                <a:spcPts val="1600"/>
              </a:spcAft>
              <a:defRPr sz="1400">
                <a:solidFill>
                  <a:srgbClr val="94A3B8"/>
                </a:solidFill>
                <a:latin typeface="Segoe UI"/>
              </a:defRPr>
            </a:pPr>
            <a:r>
              <a:t>Formalizing Reasoning Context Assembly as an Inference-Time 0/1 Knapsack Optimization</a:t>
            </a:r>
          </a:p>
          <a:p>
            <a:pPr>
              <a:defRPr sz="1200" b="1">
                <a:solidFill>
                  <a:srgbClr val="6366F1"/>
                </a:solidFill>
                <a:latin typeface="Segoe UI"/>
              </a:defRPr>
            </a:pPr>
            <a:r>
              <a:t>Track: Agent Architectures &amp; Efficient Inference | NeurIPS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Executive Summary: Key Findings &amp; Paradigm Shift</a:t>
            </a:r>
          </a:p>
        </p:txBody>
      </p:sp>
      <p:sp>
        <p:nvSpPr>
          <p:cNvPr id="5" name="Rounded Rectangle 4"/>
          <p:cNvSpPr/>
          <p:nvPr/>
        </p:nvSpPr>
        <p:spPr>
          <a:xfrm>
            <a:off x="731520" y="1371600"/>
            <a:ext cx="342900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063240" cy="1737360"/>
          </a:xfrm>
          <a:prstGeom prst="rect">
            <a:avLst/>
          </a:prstGeom>
          <a:noFill/>
        </p:spPr>
        <p:txBody>
          <a:bodyPr wrap="square">
            <a:spAutoFit/>
          </a:bodyPr>
          <a:lstStyle/>
          <a:p>
            <a:pPr>
              <a:defRPr sz="2400" b="1">
                <a:solidFill>
                  <a:srgbClr val="38BDF8"/>
                </a:solidFill>
                <a:latin typeface="Segoe UI"/>
              </a:defRPr>
            </a:pPr>
            <a:r>
              <a:t>100% Coverage</a:t>
            </a:r>
          </a:p>
          <a:p>
            <a:pPr>
              <a:spcAft>
                <a:spcPts val="800"/>
              </a:spcAft>
              <a:defRPr sz="1200" b="1">
                <a:solidFill>
                  <a:srgbClr val="F8FAFC"/>
                </a:solidFill>
              </a:defRPr>
            </a:pPr>
            <a:r>
              <a:t>@ B = 500 Tokens</a:t>
            </a:r>
          </a:p>
          <a:p>
            <a:pPr>
              <a:defRPr sz="1100">
                <a:solidFill>
                  <a:srgbClr val="94A3B8"/>
                </a:solidFill>
              </a:defRPr>
            </a:pPr>
            <a:r>
              <a:t>CSC reaches 100% state coverage on HotpotQA vs 83.3% RAG and 60% MEM1.</a:t>
            </a:r>
          </a:p>
        </p:txBody>
      </p:sp>
      <p:sp>
        <p:nvSpPr>
          <p:cNvPr id="7" name="Rounded Rectangle 6"/>
          <p:cNvSpPr/>
          <p:nvPr/>
        </p:nvSpPr>
        <p:spPr>
          <a:xfrm>
            <a:off x="4343400" y="1371600"/>
            <a:ext cx="342900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508760"/>
            <a:ext cx="3063240" cy="1737360"/>
          </a:xfrm>
          <a:prstGeom prst="rect">
            <a:avLst/>
          </a:prstGeom>
          <a:noFill/>
        </p:spPr>
        <p:txBody>
          <a:bodyPr wrap="square">
            <a:spAutoFit/>
          </a:bodyPr>
          <a:lstStyle/>
          <a:p>
            <a:pPr>
              <a:defRPr sz="2400" b="1">
                <a:solidFill>
                  <a:srgbClr val="34D399"/>
                </a:solidFill>
                <a:latin typeface="Segoe UI"/>
              </a:defRPr>
            </a:pPr>
            <a:r>
              <a:t>88.9% Live F1</a:t>
            </a:r>
          </a:p>
          <a:p>
            <a:pPr>
              <a:spcAft>
                <a:spcPts val="800"/>
              </a:spcAft>
              <a:defRPr sz="1200" b="1">
                <a:solidFill>
                  <a:srgbClr val="F8FAFC"/>
                </a:solidFill>
              </a:defRPr>
            </a:pPr>
            <a:r>
              <a:t>Downstream LLM Impact</a:t>
            </a:r>
          </a:p>
          <a:p>
            <a:pPr>
              <a:defRPr sz="1100">
                <a:solidFill>
                  <a:srgbClr val="94A3B8"/>
                </a:solidFill>
              </a:defRPr>
            </a:pPr>
            <a:r>
              <a:t>Evaluated on Groq Qwen3.6-27B vs 66.7% for the strongest baseline.</a:t>
            </a:r>
          </a:p>
        </p:txBody>
      </p:sp>
      <p:sp>
        <p:nvSpPr>
          <p:cNvPr id="9" name="Rounded Rectangle 8"/>
          <p:cNvSpPr/>
          <p:nvPr/>
        </p:nvSpPr>
        <p:spPr>
          <a:xfrm>
            <a:off x="7955280" y="1371600"/>
            <a:ext cx="342900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508760"/>
            <a:ext cx="3063240" cy="1737360"/>
          </a:xfrm>
          <a:prstGeom prst="rect">
            <a:avLst/>
          </a:prstGeom>
          <a:noFill/>
        </p:spPr>
        <p:txBody>
          <a:bodyPr wrap="square">
            <a:spAutoFit/>
          </a:bodyPr>
          <a:lstStyle/>
          <a:p>
            <a:pPr>
              <a:defRPr sz="2400" b="1">
                <a:solidFill>
                  <a:srgbClr val="6366F1"/>
                </a:solidFill>
                <a:latin typeface="Segoe UI"/>
              </a:defRPr>
            </a:pPr>
            <a:r>
              <a:t>100% Horizon Retention</a:t>
            </a:r>
          </a:p>
          <a:p>
            <a:pPr>
              <a:spcAft>
                <a:spcPts val="800"/>
              </a:spcAft>
              <a:defRPr sz="1200" b="1">
                <a:solidFill>
                  <a:srgbClr val="F8FAFC"/>
                </a:solidFill>
              </a:defRPr>
            </a:pPr>
            <a:r>
              <a:t>Zero RL Overhead</a:t>
            </a:r>
          </a:p>
          <a:p>
            <a:pPr>
              <a:defRPr sz="1100">
                <a:solidFill>
                  <a:srgbClr val="94A3B8"/>
                </a:solidFill>
              </a:defRPr>
            </a:pPr>
            <a:r>
              <a:t>Maintains 100% retention at horizon N=16 within 512 tokens while MEM1 drops to 82%.</a:t>
            </a:r>
          </a:p>
        </p:txBody>
      </p:sp>
      <p:sp>
        <p:nvSpPr>
          <p:cNvPr id="11" name="Rounded Rectangle 10"/>
          <p:cNvSpPr/>
          <p:nvPr/>
        </p:nvSpPr>
        <p:spPr>
          <a:xfrm>
            <a:off x="731520" y="3566160"/>
            <a:ext cx="10728655" cy="2743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657600"/>
            <a:ext cx="10362895" cy="2468880"/>
          </a:xfrm>
          <a:prstGeom prst="rect">
            <a:avLst/>
          </a:prstGeom>
          <a:noFill/>
        </p:spPr>
        <p:txBody>
          <a:bodyPr wrap="square">
            <a:spAutoFit/>
          </a:bodyPr>
          <a:lstStyle/>
          <a:p>
            <a:pPr>
              <a:spcAft>
                <a:spcPts val="800"/>
              </a:spcAft>
              <a:defRPr sz="1300">
                <a:latin typeface="Segoe UI"/>
              </a:defRPr>
            </a:pPr>
            <a:r>
              <a:rPr b="1">
                <a:solidFill>
                  <a:srgbClr val="F8FAFC"/>
                </a:solidFill>
              </a:rPr>
              <a:t>The Core Problem: </a:t>
            </a:r>
            <a:r>
              <a:rPr b="0">
                <a:solidFill>
                  <a:srgbClr val="94A3B8"/>
                </a:solidFill>
              </a:rPr>
              <a:t>Long-horizon agents accumulate unbounded history, but inference token budgets remain strictly capped.</a:t>
            </a:r>
          </a:p>
          <a:p>
            <a:pPr>
              <a:spcAft>
                <a:spcPts val="800"/>
              </a:spcAft>
              <a:defRPr sz="1300">
                <a:latin typeface="Segoe UI"/>
              </a:defRPr>
            </a:pPr>
            <a:r>
              <a:rPr b="1">
                <a:solidFill>
                  <a:srgbClr val="F8FAFC"/>
                </a:solidFill>
              </a:rPr>
              <a:t>The Compilation Formulation: </a:t>
            </a:r>
            <a:r>
              <a:rPr b="0">
                <a:solidFill>
                  <a:srgbClr val="94A3B8"/>
                </a:solidFill>
              </a:rPr>
              <a:t>Instead of independent retrieval or recurrent compression, formulate state assembly as an explicit 0/1 knapsack over Knowledge, Experience, and Computation.</a:t>
            </a:r>
          </a:p>
          <a:p>
            <a:pPr>
              <a:spcAft>
                <a:spcPts val="800"/>
              </a:spcAft>
              <a:defRPr sz="1300">
                <a:latin typeface="Segoe UI"/>
              </a:defRPr>
            </a:pPr>
            <a:r>
              <a:rPr b="1">
                <a:solidFill>
                  <a:srgbClr val="F8FAFC"/>
                </a:solidFill>
              </a:rPr>
              <a:t>Trained Scorer &amp; Greedy Selector: </a:t>
            </a:r>
            <a:r>
              <a:rPr b="0">
                <a:solidFill>
                  <a:srgbClr val="94A3B8"/>
                </a:solidFill>
              </a:rPr>
              <a:t>A 9-feature Gradient Boosted Tree utility scorer feeds a greedy density selector running in O(N log N) time with 0.0% optimality gap.</a:t>
            </a:r>
          </a:p>
          <a:p>
            <a:pPr>
              <a:spcAft>
                <a:spcPts val="800"/>
              </a:spcAft>
              <a:defRPr sz="1300">
                <a:latin typeface="Segoe UI"/>
              </a:defRPr>
            </a:pPr>
            <a:r>
              <a:rPr b="1">
                <a:solidFill>
                  <a:srgbClr val="F8FAFC"/>
                </a:solidFill>
              </a:rPr>
              <a:t>Scientific Transparency: </a:t>
            </a:r>
            <a:r>
              <a:rPr b="0">
                <a:solidFill>
                  <a:srgbClr val="94A3B8"/>
                </a:solidFill>
              </a:rPr>
              <a:t>We openly disclose limitations: in-distribution training label alignment and curated WebShop sample size.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The Token Budget Crisis in Long-Horizon LLM Agents</a:t>
            </a:r>
          </a:p>
        </p:txBody>
      </p:sp>
      <p:sp>
        <p:nvSpPr>
          <p:cNvPr id="5" name="Rounded Rectangle 4"/>
          <p:cNvSpPr/>
          <p:nvPr/>
        </p:nvSpPr>
        <p:spPr>
          <a:xfrm>
            <a:off x="7315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572000"/>
          </a:xfrm>
          <a:prstGeom prst="rect">
            <a:avLst/>
          </a:prstGeom>
          <a:noFill/>
        </p:spPr>
        <p:txBody>
          <a:bodyPr wrap="square">
            <a:spAutoFit/>
          </a:bodyPr>
          <a:lstStyle/>
          <a:p>
            <a:pPr>
              <a:spcAft>
                <a:spcPts val="800"/>
              </a:spcAft>
              <a:defRPr sz="1300">
                <a:latin typeface="Segoe UI"/>
              </a:defRPr>
            </a:pPr>
            <a:r>
              <a:rPr b="1">
                <a:solidFill>
                  <a:srgbClr val="F8FAFC"/>
                </a:solidFill>
              </a:rPr>
              <a:t>Unbounded Accumulation: </a:t>
            </a:r>
            <a:r>
              <a:rPr b="0">
                <a:solidFill>
                  <a:srgbClr val="94A3B8"/>
                </a:solidFill>
              </a:rPr>
              <a:t>As agents act over long horizons, candidate history grows monotonically: external documents, execution traces, scratchpads, and memories.</a:t>
            </a:r>
          </a:p>
          <a:p>
            <a:pPr>
              <a:spcAft>
                <a:spcPts val="800"/>
              </a:spcAft>
              <a:defRPr sz="1300">
                <a:latin typeface="Segoe UI"/>
              </a:defRPr>
            </a:pPr>
            <a:r>
              <a:rPr b="1">
                <a:solidFill>
                  <a:srgbClr val="F8FAFC"/>
                </a:solidFill>
              </a:rPr>
              <a:t>Fixed Inference Budgets: </a:t>
            </a:r>
            <a:r>
              <a:rPr b="0">
                <a:solidFill>
                  <a:srgbClr val="94A3B8"/>
                </a:solidFill>
              </a:rPr>
              <a:t>LLM context windows and inference latency/cost force a strict token ceiling B per reasoning step.</a:t>
            </a:r>
          </a:p>
          <a:p>
            <a:pPr>
              <a:spcAft>
                <a:spcPts val="800"/>
              </a:spcAft>
              <a:defRPr sz="1300">
                <a:latin typeface="Segoe UI"/>
              </a:defRPr>
            </a:pPr>
            <a:r>
              <a:rPr b="1">
                <a:solidFill>
                  <a:srgbClr val="F8FAFC"/>
                </a:solidFill>
              </a:rPr>
              <a:t>The 'Lost in the Middle' Trap: </a:t>
            </a:r>
            <a:r>
              <a:rPr b="0">
                <a:solidFill>
                  <a:srgbClr val="94A3B8"/>
                </a:solidFill>
              </a:rPr>
              <a:t>Stuffing full context degrades reasoning, introduces distractor noise, and skyrockets quadratic attention costs.</a:t>
            </a:r>
          </a:p>
          <a:p>
            <a:pPr>
              <a:spcAft>
                <a:spcPts val="800"/>
              </a:spcAft>
              <a:defRPr sz="1300">
                <a:latin typeface="Segoe UI"/>
              </a:defRPr>
            </a:pPr>
            <a:r>
              <a:rPr b="1">
                <a:solidFill>
                  <a:srgbClr val="F8FAFC"/>
                </a:solidFill>
              </a:rPr>
              <a:t>Homogeneous Fallacy: </a:t>
            </a:r>
            <a:r>
              <a:rPr b="0">
                <a:solidFill>
                  <a:srgbClr val="94A3B8"/>
                </a:solidFill>
              </a:rPr>
              <a:t>Real agent contexts are not just documents—they are a heterogeneous blend of static facts, past actions, and dynamic tool computations.</a:t>
            </a:r>
          </a:p>
        </p:txBody>
      </p:sp>
      <p:sp>
        <p:nvSpPr>
          <p:cNvPr id="7" name="Rounded Rectangle 6"/>
          <p:cNvSpPr/>
          <p:nvPr/>
        </p:nvSpPr>
        <p:spPr>
          <a:xfrm>
            <a:off x="62179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572000"/>
          </a:xfrm>
          <a:prstGeom prst="rect">
            <a:avLst/>
          </a:prstGeom>
          <a:noFill/>
        </p:spPr>
        <p:txBody>
          <a:bodyPr wrap="square">
            <a:spAutoFit/>
          </a:bodyPr>
          <a:lstStyle/>
          <a:p>
            <a:pPr>
              <a:spcAft>
                <a:spcPts val="1200"/>
              </a:spcAft>
              <a:defRPr sz="1400" b="1">
                <a:solidFill>
                  <a:srgbClr val="38BDF8"/>
                </a:solidFill>
              </a:defRPr>
            </a:pPr>
            <a:r>
              <a:t>The Heterogeneous Triad: R = R_know ∪ R_exp ∪ R_comp</a:t>
            </a:r>
          </a:p>
          <a:p>
            <a:pPr>
              <a:spcAft>
                <a:spcPts val="800"/>
              </a:spcAft>
              <a:defRPr sz="1200">
                <a:latin typeface="Segoe UI"/>
              </a:defRPr>
            </a:pPr>
            <a:r>
              <a:rPr b="1">
                <a:solidFill>
                  <a:srgbClr val="F8FAFC"/>
                </a:solidFill>
              </a:rPr>
              <a:t>1. Knowledge (R_know): </a:t>
            </a:r>
            <a:r>
              <a:rPr b="0">
                <a:solidFill>
                  <a:srgbClr val="94A3B8"/>
                </a:solidFill>
              </a:rPr>
              <a:t>Retrieved facts, Wikipedia passages, domain corpus docs. High density of ground truth, but verbose.</a:t>
            </a:r>
          </a:p>
          <a:p>
            <a:pPr>
              <a:spcAft>
                <a:spcPts val="800"/>
              </a:spcAft>
              <a:defRPr sz="1200">
                <a:latin typeface="Segoe UI"/>
              </a:defRPr>
            </a:pPr>
            <a:r>
              <a:rPr b="1">
                <a:solidFill>
                  <a:srgbClr val="F8FAFC"/>
                </a:solidFill>
              </a:rPr>
              <a:t>2. Experience (R_exp): </a:t>
            </a:r>
            <a:r>
              <a:rPr b="0">
                <a:solidFill>
                  <a:srgbClr val="94A3B8"/>
                </a:solidFill>
              </a:rPr>
              <a:t>Few-shot trajectories, successful workflows, episodic reflection notes. Guides reasoning structure.</a:t>
            </a:r>
          </a:p>
          <a:p>
            <a:pPr>
              <a:spcAft>
                <a:spcPts val="800"/>
              </a:spcAft>
              <a:defRPr sz="1200">
                <a:latin typeface="Segoe UI"/>
              </a:defRPr>
            </a:pPr>
            <a:r>
              <a:rPr b="1">
                <a:solidFill>
                  <a:srgbClr val="F8FAFC"/>
                </a:solidFill>
              </a:rPr>
              <a:t>3. Computation (R_comp): </a:t>
            </a:r>
            <a:r>
              <a:rPr b="0">
                <a:solidFill>
                  <a:srgbClr val="94A3B8"/>
                </a:solidFill>
              </a:rPr>
              <a:t>Intermediate scratchpad calculations, tool outputs, entity extractions, active state filters. Highly compact.</a:t>
            </a:r>
          </a:p>
          <a:p>
            <a:pPr>
              <a:spcAft>
                <a:spcPts val="800"/>
              </a:spcAft>
              <a:defRPr sz="1200">
                <a:latin typeface="Segoe UI"/>
              </a:defRPr>
            </a:pPr>
            <a:r>
              <a:rPr b="1">
                <a:solidFill>
                  <a:srgbClr val="F8FAFC"/>
                </a:solidFill>
              </a:rPr>
              <a:t>The Core Question: </a:t>
            </a:r>
            <a:r>
              <a:rPr b="0">
                <a:solidFill>
                  <a:srgbClr val="94A3B8"/>
                </a:solidFill>
              </a:rPr>
              <a:t>Given budget B, how do we choose the optimal subset S ⊆ R to construct the transient reasoning prompt?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Positioning Matrix: Memory Systems vs CSC</a:t>
            </a:r>
          </a:p>
        </p:txBody>
      </p:sp>
      <p:graphicFrame>
        <p:nvGraphicFramePr>
          <p:cNvPr id="5" name="Table 4"/>
          <p:cNvGraphicFramePr>
            <a:graphicFrameLocks noGrp="1"/>
          </p:cNvGraphicFramePr>
          <p:nvPr/>
        </p:nvGraphicFramePr>
        <p:xfrm>
          <a:off x="731520" y="1463040"/>
          <a:ext cx="10728655" cy="4754880"/>
        </p:xfrm>
        <a:graphic>
          <a:graphicData uri="http://schemas.openxmlformats.org/drawingml/2006/table">
            <a:tbl>
              <a:tblPr firstRow="1" bandRow="1">
                <a:tableStyleId>{5C22544A-7EE6-4342-B048-85BDC9FD1C3A}</a:tableStyleId>
              </a:tblPr>
              <a:tblGrid>
                <a:gridCol w="2011680"/>
                <a:gridCol w="1188720"/>
                <a:gridCol w="1188720"/>
                <a:gridCol w="1371600"/>
                <a:gridCol w="1280160"/>
                <a:gridCol w="1280160"/>
                <a:gridCol w="2407615"/>
              </a:tblGrid>
              <a:tr h="594360">
                <a:tc>
                  <a:txBody>
                    <a:bodyPr/>
                    <a:lstStyle/>
                    <a:p>
                      <a:pPr>
                        <a:defRPr b="1" sz="1100">
                          <a:solidFill>
                            <a:srgbClr val="38BDF8"/>
                          </a:solidFill>
                        </a:defRPr>
                      </a:pPr>
                      <a:r>
                        <a:t>System</a:t>
                      </a:r>
                    </a:p>
                  </a:txBody>
                  <a:tcPr>
                    <a:solidFill>
                      <a:srgbClr val="1E293B"/>
                    </a:solidFill>
                  </a:tcPr>
                </a:tc>
                <a:tc>
                  <a:txBody>
                    <a:bodyPr/>
                    <a:lstStyle/>
                    <a:p>
                      <a:pPr>
                        <a:defRPr b="1" sz="1100">
                          <a:solidFill>
                            <a:srgbClr val="38BDF8"/>
                          </a:solidFill>
                        </a:defRPr>
                      </a:pPr>
                      <a:r>
                        <a:t>Store</a:t>
                      </a:r>
                    </a:p>
                  </a:txBody>
                  <a:tcPr>
                    <a:solidFill>
                      <a:srgbClr val="1E293B"/>
                    </a:solidFill>
                  </a:tcPr>
                </a:tc>
                <a:tc>
                  <a:txBody>
                    <a:bodyPr/>
                    <a:lstStyle/>
                    <a:p>
                      <a:pPr>
                        <a:defRPr b="1" sz="1100">
                          <a:solidFill>
                            <a:srgbClr val="38BDF8"/>
                          </a:solidFill>
                        </a:defRPr>
                      </a:pPr>
                      <a:r>
                        <a:t>Retrieve</a:t>
                      </a:r>
                    </a:p>
                  </a:txBody>
                  <a:tcPr>
                    <a:solidFill>
                      <a:srgbClr val="1E293B"/>
                    </a:solidFill>
                  </a:tcPr>
                </a:tc>
                <a:tc>
                  <a:txBody>
                    <a:bodyPr/>
                    <a:lstStyle/>
                    <a:p>
                      <a:pPr>
                        <a:defRPr b="1" sz="1100">
                          <a:solidFill>
                            <a:srgbClr val="38BDF8"/>
                          </a:solidFill>
                        </a:defRPr>
                      </a:pPr>
                      <a:r>
                        <a:t>Compute Reuse</a:t>
                      </a:r>
                    </a:p>
                  </a:txBody>
                  <a:tcPr>
                    <a:solidFill>
                      <a:srgbClr val="1E293B"/>
                    </a:solidFill>
                  </a:tcPr>
                </a:tc>
                <a:tc>
                  <a:txBody>
                    <a:bodyPr/>
                    <a:lstStyle/>
                    <a:p>
                      <a:pPr>
                        <a:defRPr b="1" sz="1100">
                          <a:solidFill>
                            <a:srgbClr val="38BDF8"/>
                          </a:solidFill>
                        </a:defRPr>
                      </a:pPr>
                      <a:r>
                        <a:t>Budget Aware</a:t>
                      </a:r>
                    </a:p>
                  </a:txBody>
                  <a:tcPr>
                    <a:solidFill>
                      <a:srgbClr val="1E293B"/>
                    </a:solidFill>
                  </a:tcPr>
                </a:tc>
                <a:tc>
                  <a:txBody>
                    <a:bodyPr/>
                    <a:lstStyle/>
                    <a:p>
                      <a:pPr>
                        <a:defRPr b="1" sz="1100">
                          <a:solidFill>
                            <a:srgbClr val="38BDF8"/>
                          </a:solidFill>
                        </a:defRPr>
                      </a:pPr>
                      <a:r>
                        <a:t>Cross-Resource</a:t>
                      </a:r>
                    </a:p>
                  </a:txBody>
                  <a:tcPr>
                    <a:solidFill>
                      <a:srgbClr val="1E293B"/>
                    </a:solidFill>
                  </a:tcPr>
                </a:tc>
                <a:tc>
                  <a:txBody>
                    <a:bodyPr/>
                    <a:lstStyle/>
                    <a:p>
                      <a:pPr>
                        <a:defRPr b="1" sz="1100">
                          <a:solidFill>
                            <a:srgbClr val="38BDF8"/>
                          </a:solidFill>
                        </a:defRPr>
                      </a:pPr>
                      <a:r>
                        <a:t>Primary Limitation vs CSC</a:t>
                      </a:r>
                    </a:p>
                  </a:txBody>
                  <a:tcPr>
                    <a:solidFill>
                      <a:srgbClr val="1E293B"/>
                    </a:solidFill>
                  </a:tcPr>
                </a:tc>
              </a:tr>
              <a:tr h="594360">
                <a:tc>
                  <a:txBody>
                    <a:bodyPr/>
                    <a:lstStyle/>
                    <a:p>
                      <a:pPr>
                        <a:defRPr sz="1000" b="0">
                          <a:solidFill>
                            <a:srgbClr val="F8FAFC"/>
                          </a:solidFill>
                        </a:defRPr>
                      </a:pPr>
                      <a:r>
                        <a:t>MemGPT (Packer et al.)</a:t>
                      </a:r>
                    </a:p>
                  </a:txBody>
                  <a:tcPr>
                    <a:solidFill>
                      <a:srgbClr val="18202F"/>
                    </a:solidFill>
                  </a:tcPr>
                </a:tc>
                <a:tc>
                  <a:txBody>
                    <a:bodyPr/>
                    <a:lstStyle/>
                    <a:p>
                      <a:pPr>
                        <a:defRPr sz="1000" b="0">
                          <a:solidFill>
                            <a:srgbClr val="94A3B8"/>
                          </a:solidFill>
                        </a:defRPr>
                      </a:pPr>
                      <a:r>
                        <a:t>Yes</a:t>
                      </a:r>
                    </a:p>
                  </a:txBody>
                  <a:tcPr>
                    <a:solidFill>
                      <a:srgbClr val="18202F"/>
                    </a:solidFill>
                  </a:tcPr>
                </a:tc>
                <a:tc>
                  <a:txBody>
                    <a:bodyPr/>
                    <a:lstStyle/>
                    <a:p>
                      <a:pPr>
                        <a:defRPr sz="1000" b="0">
                          <a:solidFill>
                            <a:srgbClr val="94A3B8"/>
                          </a:solidFill>
                        </a:defRPr>
                      </a:pPr>
                      <a:r>
                        <a:t>Yes</a:t>
                      </a:r>
                    </a:p>
                  </a:txBody>
                  <a:tcPr>
                    <a:solidFill>
                      <a:srgbClr val="18202F"/>
                    </a:solidFill>
                  </a:tcPr>
                </a:tc>
                <a:tc>
                  <a:txBody>
                    <a:bodyPr/>
                    <a:lstStyle/>
                    <a:p>
                      <a:pPr>
                        <a:defRPr sz="1000" b="0">
                          <a:solidFill>
                            <a:srgbClr val="94A3B8"/>
                          </a:solidFill>
                        </a:defRPr>
                      </a:pPr>
                      <a:r>
                        <a:t>No</a:t>
                      </a:r>
                    </a:p>
                  </a:txBody>
                  <a:tcPr>
                    <a:solidFill>
                      <a:srgbClr val="18202F"/>
                    </a:solidFill>
                  </a:tcPr>
                </a:tc>
                <a:tc>
                  <a:txBody>
                    <a:bodyPr/>
                    <a:lstStyle/>
                    <a:p>
                      <a:pPr>
                        <a:defRPr sz="1000" b="0">
                          <a:solidFill>
                            <a:srgbClr val="94A3B8"/>
                          </a:solidFill>
                        </a:defRPr>
                      </a:pPr>
                      <a:r>
                        <a:t>No</a:t>
                      </a:r>
                    </a:p>
                  </a:txBody>
                  <a:tcPr>
                    <a:solidFill>
                      <a:srgbClr val="18202F"/>
                    </a:solidFill>
                  </a:tcPr>
                </a:tc>
                <a:tc>
                  <a:txBody>
                    <a:bodyPr/>
                    <a:lstStyle/>
                    <a:p>
                      <a:pPr>
                        <a:defRPr sz="1000" b="0">
                          <a:solidFill>
                            <a:srgbClr val="94A3B8"/>
                          </a:solidFill>
                        </a:defRPr>
                      </a:pPr>
                      <a:r>
                        <a:t>No</a:t>
                      </a:r>
                    </a:p>
                  </a:txBody>
                  <a:tcPr>
                    <a:solidFill>
                      <a:srgbClr val="18202F"/>
                    </a:solidFill>
                  </a:tcPr>
                </a:tc>
                <a:tc>
                  <a:txBody>
                    <a:bodyPr/>
                    <a:lstStyle/>
                    <a:p>
                      <a:pPr>
                        <a:defRPr sz="1000" b="0">
                          <a:solidFill>
                            <a:srgbClr val="94A3B8"/>
                          </a:solidFill>
                        </a:defRPr>
                      </a:pPr>
                      <a:r>
                        <a:t>LLM-paged OS memory; no joint knapsack</a:t>
                      </a:r>
                    </a:p>
                  </a:txBody>
                  <a:tcPr>
                    <a:solidFill>
                      <a:srgbClr val="18202F"/>
                    </a:solidFill>
                  </a:tcPr>
                </a:tc>
              </a:tr>
              <a:tr h="594360">
                <a:tc>
                  <a:txBody>
                    <a:bodyPr/>
                    <a:lstStyle/>
                    <a:p>
                      <a:pPr>
                        <a:defRPr sz="1000" b="0">
                          <a:solidFill>
                            <a:srgbClr val="F8FAFC"/>
                          </a:solidFill>
                        </a:defRPr>
                      </a:pPr>
                      <a:r>
                        <a:t>A-MEM (Xu et al.)</a:t>
                      </a:r>
                    </a:p>
                  </a:txBody>
                  <a:tcPr>
                    <a:solidFill>
                      <a:srgbClr val="1E293B"/>
                    </a:solidFill>
                  </a:tcPr>
                </a:tc>
                <a:tc>
                  <a:txBody>
                    <a:bodyPr/>
                    <a:lstStyle/>
                    <a:p>
                      <a:pPr>
                        <a:defRPr sz="1000" b="0">
                          <a:solidFill>
                            <a:srgbClr val="94A3B8"/>
                          </a:solidFill>
                        </a:defRPr>
                      </a:pPr>
                      <a:r>
                        <a:t>Yes</a:t>
                      </a:r>
                    </a:p>
                  </a:txBody>
                  <a:tcPr>
                    <a:solidFill>
                      <a:srgbClr val="1E293B"/>
                    </a:solidFill>
                  </a:tcPr>
                </a:tc>
                <a:tc>
                  <a:txBody>
                    <a:bodyPr/>
                    <a:lstStyle/>
                    <a:p>
                      <a:pPr>
                        <a:defRPr sz="1000" b="0">
                          <a:solidFill>
                            <a:srgbClr val="94A3B8"/>
                          </a:solidFill>
                        </a:defRPr>
                      </a:pPr>
                      <a:r>
                        <a:t>Yes</a:t>
                      </a:r>
                    </a:p>
                  </a:txBody>
                  <a:tcPr>
                    <a:solidFill>
                      <a:srgbClr val="1E293B"/>
                    </a:solidFill>
                  </a:tcPr>
                </a:tc>
                <a:tc>
                  <a:txBody>
                    <a:bodyPr/>
                    <a:lstStyle/>
                    <a:p>
                      <a:pPr>
                        <a:defRPr sz="1000" b="0">
                          <a:solidFill>
                            <a:srgbClr val="94A3B8"/>
                          </a:solidFill>
                        </a:defRPr>
                      </a:pPr>
                      <a:r>
                        <a:t>No</a:t>
                      </a:r>
                    </a:p>
                  </a:txBody>
                  <a:tcPr>
                    <a:solidFill>
                      <a:srgbClr val="1E293B"/>
                    </a:solidFill>
                  </a:tcPr>
                </a:tc>
                <a:tc>
                  <a:txBody>
                    <a:bodyPr/>
                    <a:lstStyle/>
                    <a:p>
                      <a:pPr>
                        <a:defRPr sz="1000" b="0">
                          <a:solidFill>
                            <a:srgbClr val="94A3B8"/>
                          </a:solidFill>
                        </a:defRPr>
                      </a:pPr>
                      <a:r>
                        <a:t>Partial</a:t>
                      </a:r>
                    </a:p>
                  </a:txBody>
                  <a:tcPr>
                    <a:solidFill>
                      <a:srgbClr val="1E293B"/>
                    </a:solidFill>
                  </a:tcPr>
                </a:tc>
                <a:tc>
                  <a:txBody>
                    <a:bodyPr/>
                    <a:lstStyle/>
                    <a:p>
                      <a:pPr>
                        <a:defRPr sz="1000" b="0">
                          <a:solidFill>
                            <a:srgbClr val="94A3B8"/>
                          </a:solidFill>
                        </a:defRPr>
                      </a:pPr>
                      <a:r>
                        <a:t>No</a:t>
                      </a:r>
                    </a:p>
                  </a:txBody>
                  <a:tcPr>
                    <a:solidFill>
                      <a:srgbClr val="1E293B"/>
                    </a:solidFill>
                  </a:tcPr>
                </a:tc>
                <a:tc>
                  <a:txBody>
                    <a:bodyPr/>
                    <a:lstStyle/>
                    <a:p>
                      <a:pPr>
                        <a:defRPr sz="1000" b="0">
                          <a:solidFill>
                            <a:srgbClr val="94A3B8"/>
                          </a:solidFill>
                        </a:defRPr>
                      </a:pPr>
                      <a:r>
                        <a:t>Linked notes; single homogeneous memory type</a:t>
                      </a:r>
                    </a:p>
                  </a:txBody>
                  <a:tcPr>
                    <a:solidFill>
                      <a:srgbClr val="1E293B"/>
                    </a:solidFill>
                  </a:tcPr>
                </a:tc>
              </a:tr>
              <a:tr h="594360">
                <a:tc>
                  <a:txBody>
                    <a:bodyPr/>
                    <a:lstStyle/>
                    <a:p>
                      <a:pPr>
                        <a:defRPr sz="1000" b="0">
                          <a:solidFill>
                            <a:srgbClr val="F8FAFC"/>
                          </a:solidFill>
                        </a:defRPr>
                      </a:pPr>
                      <a:r>
                        <a:t>Memory-R1 (Yan et al.)</a:t>
                      </a:r>
                    </a:p>
                  </a:txBody>
                  <a:tcPr>
                    <a:solidFill>
                      <a:srgbClr val="18202F"/>
                    </a:solidFill>
                  </a:tcPr>
                </a:tc>
                <a:tc>
                  <a:txBody>
                    <a:bodyPr/>
                    <a:lstStyle/>
                    <a:p>
                      <a:pPr>
                        <a:defRPr sz="1000" b="0">
                          <a:solidFill>
                            <a:srgbClr val="94A3B8"/>
                          </a:solidFill>
                        </a:defRPr>
                      </a:pPr>
                      <a:r>
                        <a:t>Yes</a:t>
                      </a:r>
                    </a:p>
                  </a:txBody>
                  <a:tcPr>
                    <a:solidFill>
                      <a:srgbClr val="18202F"/>
                    </a:solidFill>
                  </a:tcPr>
                </a:tc>
                <a:tc>
                  <a:txBody>
                    <a:bodyPr/>
                    <a:lstStyle/>
                    <a:p>
                      <a:pPr>
                        <a:defRPr sz="1000" b="0">
                          <a:solidFill>
                            <a:srgbClr val="94A3B8"/>
                          </a:solidFill>
                        </a:defRPr>
                      </a:pPr>
                      <a:r>
                        <a:t>Yes</a:t>
                      </a:r>
                    </a:p>
                  </a:txBody>
                  <a:tcPr>
                    <a:solidFill>
                      <a:srgbClr val="18202F"/>
                    </a:solidFill>
                  </a:tcPr>
                </a:tc>
                <a:tc>
                  <a:txBody>
                    <a:bodyPr/>
                    <a:lstStyle/>
                    <a:p>
                      <a:pPr>
                        <a:defRPr sz="1000" b="0">
                          <a:solidFill>
                            <a:srgbClr val="94A3B8"/>
                          </a:solidFill>
                        </a:defRPr>
                      </a:pPr>
                      <a:r>
                        <a:t>No</a:t>
                      </a:r>
                    </a:p>
                  </a:txBody>
                  <a:tcPr>
                    <a:solidFill>
                      <a:srgbClr val="18202F"/>
                    </a:solidFill>
                  </a:tcPr>
                </a:tc>
                <a:tc>
                  <a:txBody>
                    <a:bodyPr/>
                    <a:lstStyle/>
                    <a:p>
                      <a:pPr>
                        <a:defRPr sz="1000" b="0">
                          <a:solidFill>
                            <a:srgbClr val="94A3B8"/>
                          </a:solidFill>
                        </a:defRPr>
                      </a:pPr>
                      <a:r>
                        <a:t>No</a:t>
                      </a:r>
                    </a:p>
                  </a:txBody>
                  <a:tcPr>
                    <a:solidFill>
                      <a:srgbClr val="18202F"/>
                    </a:solidFill>
                  </a:tcPr>
                </a:tc>
                <a:tc>
                  <a:txBody>
                    <a:bodyPr/>
                    <a:lstStyle/>
                    <a:p>
                      <a:pPr>
                        <a:defRPr sz="1000" b="0">
                          <a:solidFill>
                            <a:srgbClr val="94A3B8"/>
                          </a:solidFill>
                        </a:defRPr>
                      </a:pPr>
                      <a:r>
                        <a:t>No</a:t>
                      </a:r>
                    </a:p>
                  </a:txBody>
                  <a:tcPr>
                    <a:solidFill>
                      <a:srgbClr val="18202F"/>
                    </a:solidFill>
                  </a:tcPr>
                </a:tc>
                <a:tc>
                  <a:txBody>
                    <a:bodyPr/>
                    <a:lstStyle/>
                    <a:p>
                      <a:pPr>
                        <a:defRPr sz="1000" b="0">
                          <a:solidFill>
                            <a:srgbClr val="94A3B8"/>
                          </a:solidFill>
                        </a:defRPr>
                      </a:pPr>
                      <a:r>
                        <a:t>RL editing policy; no budget-aware compiler</a:t>
                      </a:r>
                    </a:p>
                  </a:txBody>
                  <a:tcPr>
                    <a:solidFill>
                      <a:srgbClr val="18202F"/>
                    </a:solidFill>
                  </a:tcPr>
                </a:tc>
              </a:tr>
              <a:tr h="594360">
                <a:tc>
                  <a:txBody>
                    <a:bodyPr/>
                    <a:lstStyle/>
                    <a:p>
                      <a:pPr>
                        <a:defRPr sz="1000" b="0">
                          <a:solidFill>
                            <a:srgbClr val="F8FAFC"/>
                          </a:solidFill>
                        </a:defRPr>
                      </a:pPr>
                      <a:r>
                        <a:t>AgeMem (Yu et al.)</a:t>
                      </a:r>
                    </a:p>
                  </a:txBody>
                  <a:tcPr>
                    <a:solidFill>
                      <a:srgbClr val="1E293B"/>
                    </a:solidFill>
                  </a:tcPr>
                </a:tc>
                <a:tc>
                  <a:txBody>
                    <a:bodyPr/>
                    <a:lstStyle/>
                    <a:p>
                      <a:pPr>
                        <a:defRPr sz="1000" b="0">
                          <a:solidFill>
                            <a:srgbClr val="94A3B8"/>
                          </a:solidFill>
                        </a:defRPr>
                      </a:pPr>
                      <a:r>
                        <a:t>Yes</a:t>
                      </a:r>
                    </a:p>
                  </a:txBody>
                  <a:tcPr>
                    <a:solidFill>
                      <a:srgbClr val="1E293B"/>
                    </a:solidFill>
                  </a:tcPr>
                </a:tc>
                <a:tc>
                  <a:txBody>
                    <a:bodyPr/>
                    <a:lstStyle/>
                    <a:p>
                      <a:pPr>
                        <a:defRPr sz="1000" b="0">
                          <a:solidFill>
                            <a:srgbClr val="94A3B8"/>
                          </a:solidFill>
                        </a:defRPr>
                      </a:pPr>
                      <a:r>
                        <a:t>Yes</a:t>
                      </a:r>
                    </a:p>
                  </a:txBody>
                  <a:tcPr>
                    <a:solidFill>
                      <a:srgbClr val="1E293B"/>
                    </a:solidFill>
                  </a:tcPr>
                </a:tc>
                <a:tc>
                  <a:txBody>
                    <a:bodyPr/>
                    <a:lstStyle/>
                    <a:p>
                      <a:pPr>
                        <a:defRPr sz="1000" b="0">
                          <a:solidFill>
                            <a:srgbClr val="94A3B8"/>
                          </a:solidFill>
                        </a:defRPr>
                      </a:pPr>
                      <a:r>
                        <a:t>No</a:t>
                      </a:r>
                    </a:p>
                  </a:txBody>
                  <a:tcPr>
                    <a:solidFill>
                      <a:srgbClr val="1E293B"/>
                    </a:solidFill>
                  </a:tcPr>
                </a:tc>
                <a:tc>
                  <a:txBody>
                    <a:bodyPr/>
                    <a:lstStyle/>
                    <a:p>
                      <a:pPr>
                        <a:defRPr sz="1000" b="0">
                          <a:solidFill>
                            <a:srgbClr val="94A3B8"/>
                          </a:solidFill>
                        </a:defRPr>
                      </a:pPr>
                      <a:r>
                        <a:t>Partial</a:t>
                      </a:r>
                    </a:p>
                  </a:txBody>
                  <a:tcPr>
                    <a:solidFill>
                      <a:srgbClr val="1E293B"/>
                    </a:solidFill>
                  </a:tcPr>
                </a:tc>
                <a:tc>
                  <a:txBody>
                    <a:bodyPr/>
                    <a:lstStyle/>
                    <a:p>
                      <a:pPr>
                        <a:defRPr sz="1000" b="0">
                          <a:solidFill>
                            <a:srgbClr val="94A3B8"/>
                          </a:solidFill>
                        </a:defRPr>
                      </a:pPr>
                      <a:r>
                        <a:t>Partial</a:t>
                      </a:r>
                    </a:p>
                  </a:txBody>
                  <a:tcPr>
                    <a:solidFill>
                      <a:srgbClr val="1E293B"/>
                    </a:solidFill>
                  </a:tcPr>
                </a:tc>
                <a:tc>
                  <a:txBody>
                    <a:bodyPr/>
                    <a:lstStyle/>
                    <a:p>
                      <a:pPr>
                        <a:defRPr sz="1000" b="0">
                          <a:solidFill>
                            <a:srgbClr val="94A3B8"/>
                          </a:solidFill>
                        </a:defRPr>
                      </a:pPr>
                      <a:r>
                        <a:t>Tiers LT/ST memory; lacks knapsack optimization</a:t>
                      </a:r>
                    </a:p>
                  </a:txBody>
                  <a:tcPr>
                    <a:solidFill>
                      <a:srgbClr val="1E293B"/>
                    </a:solidFill>
                  </a:tcPr>
                </a:tc>
              </a:tr>
              <a:tr h="594360">
                <a:tc>
                  <a:txBody>
                    <a:bodyPr/>
                    <a:lstStyle/>
                    <a:p>
                      <a:pPr>
                        <a:defRPr sz="1000" b="0">
                          <a:solidFill>
                            <a:srgbClr val="F8FAFC"/>
                          </a:solidFill>
                        </a:defRPr>
                      </a:pPr>
                      <a:r>
                        <a:t>MemOS (Li et al.)</a:t>
                      </a:r>
                    </a:p>
                  </a:txBody>
                  <a:tcPr>
                    <a:solidFill>
                      <a:srgbClr val="18202F"/>
                    </a:solidFill>
                  </a:tcPr>
                </a:tc>
                <a:tc>
                  <a:txBody>
                    <a:bodyPr/>
                    <a:lstStyle/>
                    <a:p>
                      <a:pPr>
                        <a:defRPr sz="1000" b="0">
                          <a:solidFill>
                            <a:srgbClr val="94A3B8"/>
                          </a:solidFill>
                        </a:defRPr>
                      </a:pPr>
                      <a:r>
                        <a:t>Yes</a:t>
                      </a:r>
                    </a:p>
                  </a:txBody>
                  <a:tcPr>
                    <a:solidFill>
                      <a:srgbClr val="18202F"/>
                    </a:solidFill>
                  </a:tcPr>
                </a:tc>
                <a:tc>
                  <a:txBody>
                    <a:bodyPr/>
                    <a:lstStyle/>
                    <a:p>
                      <a:pPr>
                        <a:defRPr sz="1000" b="0">
                          <a:solidFill>
                            <a:srgbClr val="94A3B8"/>
                          </a:solidFill>
                        </a:defRPr>
                      </a:pPr>
                      <a:r>
                        <a:t>Yes</a:t>
                      </a:r>
                    </a:p>
                  </a:txBody>
                  <a:tcPr>
                    <a:solidFill>
                      <a:srgbClr val="18202F"/>
                    </a:solidFill>
                  </a:tcPr>
                </a:tc>
                <a:tc>
                  <a:txBody>
                    <a:bodyPr/>
                    <a:lstStyle/>
                    <a:p>
                      <a:pPr>
                        <a:defRPr sz="1000" b="0">
                          <a:solidFill>
                            <a:srgbClr val="94A3B8"/>
                          </a:solidFill>
                        </a:defRPr>
                      </a:pPr>
                      <a:r>
                        <a:t>Yes</a:t>
                      </a:r>
                    </a:p>
                  </a:txBody>
                  <a:tcPr>
                    <a:solidFill>
                      <a:srgbClr val="18202F"/>
                    </a:solidFill>
                  </a:tcPr>
                </a:tc>
                <a:tc>
                  <a:txBody>
                    <a:bodyPr/>
                    <a:lstStyle/>
                    <a:p>
                      <a:pPr>
                        <a:defRPr sz="1000" b="0">
                          <a:solidFill>
                            <a:srgbClr val="94A3B8"/>
                          </a:solidFill>
                        </a:defRPr>
                      </a:pPr>
                      <a:r>
                        <a:t>No</a:t>
                      </a:r>
                    </a:p>
                  </a:txBody>
                  <a:tcPr>
                    <a:solidFill>
                      <a:srgbClr val="18202F"/>
                    </a:solidFill>
                  </a:tcPr>
                </a:tc>
                <a:tc>
                  <a:txBody>
                    <a:bodyPr/>
                    <a:lstStyle/>
                    <a:p>
                      <a:pPr>
                        <a:defRPr sz="1000" b="0">
                          <a:solidFill>
                            <a:srgbClr val="94A3B8"/>
                          </a:solidFill>
                        </a:defRPr>
                      </a:pPr>
                      <a:r>
                        <a:t>Partial</a:t>
                      </a:r>
                    </a:p>
                  </a:txBody>
                  <a:tcPr>
                    <a:solidFill>
                      <a:srgbClr val="18202F"/>
                    </a:solidFill>
                  </a:tcPr>
                </a:tc>
                <a:tc>
                  <a:txBody>
                    <a:bodyPr/>
                    <a:lstStyle/>
                    <a:p>
                      <a:pPr>
                        <a:defRPr sz="1000" b="0">
                          <a:solidFill>
                            <a:srgbClr val="94A3B8"/>
                          </a:solidFill>
                        </a:defRPr>
                      </a:pPr>
                      <a:r>
                        <a:t>OS memory lifecycle; lacks learned utility/budget</a:t>
                      </a:r>
                    </a:p>
                  </a:txBody>
                  <a:tcPr>
                    <a:solidFill>
                      <a:srgbClr val="18202F"/>
                    </a:solidFill>
                  </a:tcPr>
                </a:tc>
              </a:tr>
              <a:tr h="594360">
                <a:tc>
                  <a:txBody>
                    <a:bodyPr/>
                    <a:lstStyle/>
                    <a:p>
                      <a:pPr>
                        <a:defRPr sz="1000" b="0">
                          <a:solidFill>
                            <a:srgbClr val="F8FAFC"/>
                          </a:solidFill>
                        </a:defRPr>
                      </a:pPr>
                      <a:r>
                        <a:t>MEM1 (Zhou et al.)</a:t>
                      </a:r>
                    </a:p>
                  </a:txBody>
                  <a:tcPr>
                    <a:solidFill>
                      <a:srgbClr val="1E293B"/>
                    </a:solidFill>
                  </a:tcPr>
                </a:tc>
                <a:tc>
                  <a:txBody>
                    <a:bodyPr/>
                    <a:lstStyle/>
                    <a:p>
                      <a:pPr>
                        <a:defRPr sz="1000" b="0">
                          <a:solidFill>
                            <a:srgbClr val="94A3B8"/>
                          </a:solidFill>
                        </a:defRPr>
                      </a:pPr>
                      <a:r>
                        <a:t>Yes</a:t>
                      </a:r>
                    </a:p>
                  </a:txBody>
                  <a:tcPr>
                    <a:solidFill>
                      <a:srgbClr val="1E293B"/>
                    </a:solidFill>
                  </a:tcPr>
                </a:tc>
                <a:tc>
                  <a:txBody>
                    <a:bodyPr/>
                    <a:lstStyle/>
                    <a:p>
                      <a:pPr>
                        <a:defRPr sz="1000" b="0">
                          <a:solidFill>
                            <a:srgbClr val="94A3B8"/>
                          </a:solidFill>
                        </a:defRPr>
                      </a:pPr>
                      <a:r>
                        <a:t>N/A</a:t>
                      </a:r>
                    </a:p>
                  </a:txBody>
                  <a:tcPr>
                    <a:solidFill>
                      <a:srgbClr val="1E293B"/>
                    </a:solidFill>
                  </a:tcPr>
                </a:tc>
                <a:tc>
                  <a:txBody>
                    <a:bodyPr/>
                    <a:lstStyle/>
                    <a:p>
                      <a:pPr>
                        <a:defRPr sz="1000" b="0">
                          <a:solidFill>
                            <a:srgbClr val="94A3B8"/>
                          </a:solidFill>
                        </a:defRPr>
                      </a:pPr>
                      <a:r>
                        <a:t>Partial</a:t>
                      </a:r>
                    </a:p>
                  </a:txBody>
                  <a:tcPr>
                    <a:solidFill>
                      <a:srgbClr val="1E293B"/>
                    </a:solidFill>
                  </a:tcPr>
                </a:tc>
                <a:tc>
                  <a:txBody>
                    <a:bodyPr/>
                    <a:lstStyle/>
                    <a:p>
                      <a:pPr>
                        <a:defRPr sz="1000" b="0">
                          <a:solidFill>
                            <a:srgbClr val="94A3B8"/>
                          </a:solidFill>
                        </a:defRPr>
                      </a:pPr>
                      <a:r>
                        <a:t>Yes</a:t>
                      </a:r>
                    </a:p>
                  </a:txBody>
                  <a:tcPr>
                    <a:solidFill>
                      <a:srgbClr val="1E293B"/>
                    </a:solidFill>
                  </a:tcPr>
                </a:tc>
                <a:tc>
                  <a:txBody>
                    <a:bodyPr/>
                    <a:lstStyle/>
                    <a:p>
                      <a:pPr>
                        <a:defRPr sz="1000" b="0">
                          <a:solidFill>
                            <a:srgbClr val="94A3B8"/>
                          </a:solidFill>
                        </a:defRPr>
                      </a:pPr>
                      <a:r>
                        <a:t>Yes</a:t>
                      </a:r>
                    </a:p>
                  </a:txBody>
                  <a:tcPr>
                    <a:solidFill>
                      <a:srgbClr val="1E293B"/>
                    </a:solidFill>
                  </a:tcPr>
                </a:tc>
                <a:tc>
                  <a:txBody>
                    <a:bodyPr/>
                    <a:lstStyle/>
                    <a:p>
                      <a:pPr>
                        <a:defRPr sz="1000" b="0">
                          <a:solidFill>
                            <a:srgbClr val="94A3B8"/>
                          </a:solidFill>
                        </a:defRPr>
                      </a:pPr>
                      <a:r>
                        <a:t>Black-box recurrent state via costly RL</a:t>
                      </a:r>
                    </a:p>
                  </a:txBody>
                  <a:tcPr>
                    <a:solidFill>
                      <a:srgbClr val="1E293B"/>
                    </a:solidFill>
                  </a:tcPr>
                </a:tc>
              </a:tr>
              <a:tr h="594360">
                <a:tc>
                  <a:txBody>
                    <a:bodyPr/>
                    <a:lstStyle/>
                    <a:p>
                      <a:pPr>
                        <a:defRPr sz="1000" b="1">
                          <a:solidFill>
                            <a:srgbClr val="34D399"/>
                          </a:solidFill>
                        </a:defRPr>
                      </a:pPr>
                      <a:r>
                        <a:t>CSC (Ours)</a:t>
                      </a:r>
                    </a:p>
                  </a:txBody>
                  <a:tcPr>
                    <a:solidFill>
                      <a:srgbClr val="1E3050"/>
                    </a:solidFill>
                  </a:tcPr>
                </a:tc>
                <a:tc>
                  <a:txBody>
                    <a:bodyPr/>
                    <a:lstStyle/>
                    <a:p>
                      <a:pPr>
                        <a:defRPr sz="1000" b="1">
                          <a:solidFill>
                            <a:srgbClr val="34D399"/>
                          </a:solidFill>
                        </a:defRPr>
                      </a:pPr>
                      <a:r>
                        <a:t>Yes</a:t>
                      </a:r>
                    </a:p>
                  </a:txBody>
                  <a:tcPr>
                    <a:solidFill>
                      <a:srgbClr val="1E3050"/>
                    </a:solidFill>
                  </a:tcPr>
                </a:tc>
                <a:tc>
                  <a:txBody>
                    <a:bodyPr/>
                    <a:lstStyle/>
                    <a:p>
                      <a:pPr>
                        <a:defRPr sz="1000" b="1">
                          <a:solidFill>
                            <a:srgbClr val="34D399"/>
                          </a:solidFill>
                        </a:defRPr>
                      </a:pPr>
                      <a:r>
                        <a:t>Yes</a:t>
                      </a:r>
                    </a:p>
                  </a:txBody>
                  <a:tcPr>
                    <a:solidFill>
                      <a:srgbClr val="1E3050"/>
                    </a:solidFill>
                  </a:tcPr>
                </a:tc>
                <a:tc>
                  <a:txBody>
                    <a:bodyPr/>
                    <a:lstStyle/>
                    <a:p>
                      <a:pPr>
                        <a:defRPr sz="1000" b="1">
                          <a:solidFill>
                            <a:srgbClr val="34D399"/>
                          </a:solidFill>
                        </a:defRPr>
                      </a:pPr>
                      <a:r>
                        <a:t>Yes</a:t>
                      </a:r>
                    </a:p>
                  </a:txBody>
                  <a:tcPr>
                    <a:solidFill>
                      <a:srgbClr val="1E3050"/>
                    </a:solidFill>
                  </a:tcPr>
                </a:tc>
                <a:tc>
                  <a:txBody>
                    <a:bodyPr/>
                    <a:lstStyle/>
                    <a:p>
                      <a:pPr>
                        <a:defRPr sz="1000" b="1">
                          <a:solidFill>
                            <a:srgbClr val="34D399"/>
                          </a:solidFill>
                        </a:defRPr>
                      </a:pPr>
                      <a:r>
                        <a:t>Yes</a:t>
                      </a:r>
                    </a:p>
                  </a:txBody>
                  <a:tcPr>
                    <a:solidFill>
                      <a:srgbClr val="1E3050"/>
                    </a:solidFill>
                  </a:tcPr>
                </a:tc>
                <a:tc>
                  <a:txBody>
                    <a:bodyPr/>
                    <a:lstStyle/>
                    <a:p>
                      <a:pPr>
                        <a:defRPr sz="1000" b="1">
                          <a:solidFill>
                            <a:srgbClr val="34D399"/>
                          </a:solidFill>
                        </a:defRPr>
                      </a:pPr>
                      <a:r>
                        <a:t>Yes</a:t>
                      </a:r>
                    </a:p>
                  </a:txBody>
                  <a:tcPr>
                    <a:solidFill>
                      <a:srgbClr val="1E3050"/>
                    </a:solidFill>
                  </a:tcPr>
                </a:tc>
                <a:tc>
                  <a:txBody>
                    <a:bodyPr/>
                    <a:lstStyle/>
                    <a:p>
                      <a:pPr>
                        <a:defRPr sz="1000" b="1">
                          <a:solidFill>
                            <a:srgbClr val="34D399"/>
                          </a:solidFill>
                        </a:defRPr>
                      </a:pPr>
                      <a:r>
                        <a:t>Inference-time 0/1 knapsack + learned utility</a:t>
                      </a:r>
                    </a:p>
                  </a:txBody>
                  <a:tcPr>
                    <a:solidFill>
                      <a:srgbClr val="1E3050"/>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Mathematical Formulation: The 0/1 Knapsack Objective</a:t>
            </a:r>
          </a:p>
        </p:txBody>
      </p:sp>
      <p:sp>
        <p:nvSpPr>
          <p:cNvPr id="5" name="Rounded Rectangle 4"/>
          <p:cNvSpPr/>
          <p:nvPr/>
        </p:nvSpPr>
        <p:spPr>
          <a:xfrm>
            <a:off x="7315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572000"/>
          </a:xfrm>
          <a:prstGeom prst="rect">
            <a:avLst/>
          </a:prstGeom>
          <a:noFill/>
        </p:spPr>
        <p:txBody>
          <a:bodyPr wrap="square">
            <a:spAutoFit/>
          </a:bodyPr>
          <a:lstStyle/>
          <a:p>
            <a:pPr>
              <a:spcAft>
                <a:spcPts val="1400"/>
              </a:spcAft>
              <a:defRPr sz="1600" b="1">
                <a:solidFill>
                  <a:srgbClr val="38BDF8"/>
                </a:solidFill>
              </a:defRPr>
            </a:pPr>
            <a:r>
              <a:t>Constrained Optimization Problem</a:t>
            </a:r>
          </a:p>
          <a:p>
            <a:pPr>
              <a:spcAft>
                <a:spcPts val="800"/>
              </a:spcAft>
              <a:defRPr sz="1400">
                <a:latin typeface="Segoe UI"/>
              </a:defRPr>
            </a:pPr>
            <a:r>
              <a:rPr b="1">
                <a:solidFill>
                  <a:srgbClr val="F8FAFC"/>
                </a:solidFill>
              </a:rPr>
              <a:t>Objective: </a:t>
            </a:r>
            <a:r>
              <a:rPr b="0">
                <a:solidFill>
                  <a:srgbClr val="94A3B8"/>
                </a:solidFill>
              </a:rPr>
              <a:t>max_{S ⊆ R} ∑_{r ∈ S} u(r | τ, C)</a:t>
            </a:r>
          </a:p>
          <a:p>
            <a:pPr>
              <a:spcAft>
                <a:spcPts val="800"/>
              </a:spcAft>
              <a:defRPr sz="1400">
                <a:latin typeface="Segoe UI"/>
              </a:defRPr>
            </a:pPr>
            <a:r>
              <a:rPr b="1">
                <a:solidFill>
                  <a:srgbClr val="F8FAFC"/>
                </a:solidFill>
              </a:rPr>
              <a:t>Subject to: </a:t>
            </a:r>
            <a:r>
              <a:rPr b="0">
                <a:solidFill>
                  <a:srgbClr val="94A3B8"/>
                </a:solidFill>
              </a:rPr>
              <a:t>∑_{r ∈ S} cost(r) ≤ B</a:t>
            </a:r>
          </a:p>
          <a:p>
            <a:pPr>
              <a:spcAft>
                <a:spcPts val="800"/>
              </a:spcAft>
              <a:defRPr sz="1200">
                <a:latin typeface="Segoe UI"/>
              </a:defRPr>
            </a:pPr>
            <a:r>
              <a:rPr b="1">
                <a:solidFill>
                  <a:srgbClr val="F8FAFC"/>
                </a:solidFill>
              </a:rPr>
              <a:t>Optional Type Caps: </a:t>
            </a:r>
            <a:r>
              <a:rPr b="0">
                <a:solidFill>
                  <a:srgbClr val="94A3B8"/>
                </a:solidFill>
              </a:rPr>
              <a:t>counts[t] ≤ c_t  ∀ t ∈ {know, exp, comp}</a:t>
            </a:r>
          </a:p>
          <a:p>
            <a:pPr>
              <a:spcAft>
                <a:spcPts val="800"/>
              </a:spcAft>
              <a:defRPr sz="1200">
                <a:latin typeface="Segoe UI"/>
              </a:defRPr>
            </a:pPr>
            <a:r>
              <a:rPr b="1">
                <a:solidFill>
                  <a:srgbClr val="F8FAFC"/>
                </a:solidFill>
              </a:rPr>
              <a:t>Item Payloads: </a:t>
            </a:r>
            <a:r>
              <a:rPr b="0">
                <a:solidFill>
                  <a:srgbClr val="94A3B8"/>
                </a:solidFill>
              </a:rPr>
              <a:t>Each candidate r ∈ R carries text payload, resource type, token cost(r), and optional hint h(r).</a:t>
            </a:r>
          </a:p>
          <a:p>
            <a:pPr>
              <a:spcAft>
                <a:spcPts val="800"/>
              </a:spcAft>
              <a:defRPr sz="1200">
                <a:latin typeface="Segoe UI"/>
              </a:defRPr>
            </a:pPr>
            <a:r>
              <a:rPr b="1">
                <a:solidFill>
                  <a:srgbClr val="F8FAFC"/>
                </a:solidFill>
              </a:rPr>
              <a:t>Cost Estimation: </a:t>
            </a:r>
            <a:r>
              <a:rPr b="0">
                <a:solidFill>
                  <a:srgbClr val="94A3B8"/>
                </a:solidFill>
              </a:rPr>
              <a:t>Computed via standard subword tokenizer (tiktoken / BPE) with whitespace fallback.</a:t>
            </a:r>
          </a:p>
        </p:txBody>
      </p:sp>
      <p:sp>
        <p:nvSpPr>
          <p:cNvPr id="7" name="Rounded Rectangle 6"/>
          <p:cNvSpPr/>
          <p:nvPr/>
        </p:nvSpPr>
        <p:spPr>
          <a:xfrm>
            <a:off x="62179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572000"/>
          </a:xfrm>
          <a:prstGeom prst="rect">
            <a:avLst/>
          </a:prstGeom>
          <a:noFill/>
        </p:spPr>
        <p:txBody>
          <a:bodyPr wrap="square">
            <a:spAutoFit/>
          </a:bodyPr>
          <a:lstStyle/>
          <a:p>
            <a:pPr>
              <a:spcAft>
                <a:spcPts val="1400"/>
              </a:spcAft>
              <a:defRPr sz="1600" b="1">
                <a:solidFill>
                  <a:srgbClr val="34D399"/>
                </a:solidFill>
              </a:defRPr>
            </a:pPr>
            <a:r>
              <a:t>Dantzig's Value-to-Cost Density Principle</a:t>
            </a:r>
          </a:p>
          <a:p>
            <a:pPr>
              <a:spcAft>
                <a:spcPts val="800"/>
              </a:spcAft>
              <a:defRPr sz="1400">
                <a:latin typeface="Segoe UI"/>
              </a:defRPr>
            </a:pPr>
            <a:r>
              <a:rPr b="1">
                <a:solidFill>
                  <a:srgbClr val="F8FAFC"/>
                </a:solidFill>
              </a:rPr>
              <a:t>Utility Density ρ(r): </a:t>
            </a:r>
            <a:r>
              <a:rPr b="0">
                <a:solidFill>
                  <a:srgbClr val="94A3B8"/>
                </a:solidFill>
              </a:rPr>
              <a:t>ρ(r) = u(r | τ) / max(1, cost(r))</a:t>
            </a:r>
          </a:p>
          <a:p>
            <a:pPr>
              <a:spcAft>
                <a:spcPts val="800"/>
              </a:spcAft>
              <a:defRPr sz="1200">
                <a:latin typeface="Segoe UI"/>
              </a:defRPr>
            </a:pPr>
            <a:r>
              <a:rPr b="1">
                <a:solidFill>
                  <a:srgbClr val="F8FAFC"/>
                </a:solidFill>
              </a:rPr>
              <a:t>Why Density Beats Pure Utility: </a:t>
            </a:r>
            <a:r>
              <a:rPr b="0">
                <a:solidFill>
                  <a:srgbClr val="94A3B8"/>
                </a:solidFill>
              </a:rPr>
              <a:t>A 500-token document with utility 0.9 yields density 0.0018. A 50-token scratchpad with utility 0.7 yields density 0.0140 (7.7x higher ROI!).</a:t>
            </a:r>
          </a:p>
          <a:p>
            <a:pPr>
              <a:spcAft>
                <a:spcPts val="800"/>
              </a:spcAft>
              <a:defRPr sz="1200">
                <a:latin typeface="Segoe UI"/>
              </a:defRPr>
            </a:pPr>
            <a:r>
              <a:rPr b="1">
                <a:solidFill>
                  <a:srgbClr val="F8FAFC"/>
                </a:solidFill>
              </a:rPr>
              <a:t>Greedy Packing: </a:t>
            </a:r>
            <a:r>
              <a:rPr b="0">
                <a:solidFill>
                  <a:srgbClr val="94A3B8"/>
                </a:solidFill>
              </a:rPr>
              <a:t>Sort candidates descending by ρ(r) and pack greedily until budget B is reached.</a:t>
            </a:r>
          </a:p>
          <a:p>
            <a:pPr>
              <a:spcAft>
                <a:spcPts val="800"/>
              </a:spcAft>
              <a:defRPr sz="1200">
                <a:latin typeface="Segoe UI"/>
              </a:defRPr>
            </a:pPr>
            <a:r>
              <a:rPr b="1">
                <a:solidFill>
                  <a:srgbClr val="F8FAFC"/>
                </a:solidFill>
              </a:rPr>
              <a:t>Guaranteed Time Complexity: </a:t>
            </a:r>
            <a:r>
              <a:rPr b="0">
                <a:solidFill>
                  <a:srgbClr val="94A3B8"/>
                </a:solidFill>
              </a:rPr>
              <a:t>O(N log N) time complexity vs O(N · B) for exact dynamic programming.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Modular Architecture: Scoring, Selection &amp; Composition</a:t>
            </a:r>
          </a:p>
        </p:txBody>
      </p:sp>
      <p:sp>
        <p:nvSpPr>
          <p:cNvPr id="5" name="Rounded Rectangle 4"/>
          <p:cNvSpPr/>
          <p:nvPr/>
        </p:nvSpPr>
        <p:spPr>
          <a:xfrm>
            <a:off x="731520" y="1463040"/>
            <a:ext cx="20116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1828800" cy="4389120"/>
          </a:xfrm>
          <a:prstGeom prst="rect">
            <a:avLst/>
          </a:prstGeom>
          <a:noFill/>
        </p:spPr>
        <p:txBody>
          <a:bodyPr wrap="square">
            <a:spAutoFit/>
          </a:bodyPr>
          <a:lstStyle/>
          <a:p>
            <a:pPr>
              <a:spcAft>
                <a:spcPts val="1200"/>
              </a:spcAft>
              <a:defRPr sz="1300" b="1">
                <a:solidFill>
                  <a:srgbClr val="6366F1"/>
                </a:solidFill>
                <a:latin typeface="Segoe UI"/>
              </a:defRPr>
            </a:pPr>
            <a:r>
              <a:t>1. Candidate Pool</a:t>
            </a:r>
          </a:p>
          <a:p>
            <a:pPr>
              <a:defRPr sz="1100">
                <a:solidFill>
                  <a:srgbClr val="F8FAFC"/>
                </a:solidFill>
                <a:latin typeface="Segoe UI"/>
              </a:defRPr>
            </a:pPr>
            <a:r>
              <a:t>R_know: Retrieved docs</a:t>
            </a:r>
            <a:br/>
            <a:r>
              <a:t>R_exp: Past trajectories</a:t>
            </a:r>
            <a:br/>
            <a:r>
              <a:t>R_comp: Tool/scratchpads</a:t>
            </a:r>
          </a:p>
        </p:txBody>
      </p:sp>
      <p:sp>
        <p:nvSpPr>
          <p:cNvPr id="7" name="Rounded Rectangle 6"/>
          <p:cNvSpPr/>
          <p:nvPr/>
        </p:nvSpPr>
        <p:spPr>
          <a:xfrm>
            <a:off x="2898648" y="1463040"/>
            <a:ext cx="20116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0088" y="1645920"/>
            <a:ext cx="1828800" cy="4389120"/>
          </a:xfrm>
          <a:prstGeom prst="rect">
            <a:avLst/>
          </a:prstGeom>
          <a:noFill/>
        </p:spPr>
        <p:txBody>
          <a:bodyPr wrap="square">
            <a:spAutoFit/>
          </a:bodyPr>
          <a:lstStyle/>
          <a:p>
            <a:pPr>
              <a:spcAft>
                <a:spcPts val="1200"/>
              </a:spcAft>
              <a:defRPr sz="1300" b="1">
                <a:solidFill>
                  <a:srgbClr val="38BDF8"/>
                </a:solidFill>
                <a:latin typeface="Segoe UI"/>
              </a:defRPr>
            </a:pPr>
            <a:r>
              <a:t>2. Feature Extractor</a:t>
            </a:r>
          </a:p>
          <a:p>
            <a:pPr>
              <a:defRPr sz="1100">
                <a:solidFill>
                  <a:srgbClr val="F8FAFC"/>
                </a:solidFill>
                <a:latin typeface="Segoe UI"/>
              </a:defRPr>
            </a:pPr>
            <a:r>
              <a:t>9-Dimensional vector:</a:t>
            </a:r>
            <a:br/>
            <a:r>
              <a:t>TF-IDF (1/2-gram), Overlap,</a:t>
            </a:r>
            <a:br/>
            <a:r>
              <a:t>Type bits, Hint, Cost density</a:t>
            </a:r>
          </a:p>
        </p:txBody>
      </p:sp>
      <p:sp>
        <p:nvSpPr>
          <p:cNvPr id="9" name="Rounded Rectangle 8"/>
          <p:cNvSpPr/>
          <p:nvPr/>
        </p:nvSpPr>
        <p:spPr>
          <a:xfrm>
            <a:off x="5065776" y="1463040"/>
            <a:ext cx="20116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57216" y="1645920"/>
            <a:ext cx="1828800" cy="4389120"/>
          </a:xfrm>
          <a:prstGeom prst="rect">
            <a:avLst/>
          </a:prstGeom>
          <a:noFill/>
        </p:spPr>
        <p:txBody>
          <a:bodyPr wrap="square">
            <a:spAutoFit/>
          </a:bodyPr>
          <a:lstStyle/>
          <a:p>
            <a:pPr>
              <a:spcAft>
                <a:spcPts val="1200"/>
              </a:spcAft>
              <a:defRPr sz="1300" b="1">
                <a:solidFill>
                  <a:srgbClr val="34D399"/>
                </a:solidFill>
                <a:latin typeface="Segoe UI"/>
              </a:defRPr>
            </a:pPr>
            <a:r>
              <a:t>3. Production Scorer</a:t>
            </a:r>
          </a:p>
          <a:p>
            <a:pPr>
              <a:defRPr sz="1100">
                <a:solidFill>
                  <a:srgbClr val="F8FAFC"/>
                </a:solidFill>
                <a:latin typeface="Segoe UI"/>
              </a:defRPr>
            </a:pPr>
            <a:r>
              <a:t>Gradient Boosted Trees</a:t>
            </a:r>
            <a:br/>
            <a:r>
              <a:t>P(useful | τ, r)</a:t>
            </a:r>
            <a:br/>
            <a:r>
              <a:t>(98.6% Acc, 94.2% F1)</a:t>
            </a:r>
            <a:br/>
            <a:r>
              <a:t>Fallback: Dense Heuristic</a:t>
            </a:r>
          </a:p>
        </p:txBody>
      </p:sp>
      <p:sp>
        <p:nvSpPr>
          <p:cNvPr id="11" name="Rounded Rectangle 10"/>
          <p:cNvSpPr/>
          <p:nvPr/>
        </p:nvSpPr>
        <p:spPr>
          <a:xfrm>
            <a:off x="7232904" y="1463040"/>
            <a:ext cx="20116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24344" y="1645920"/>
            <a:ext cx="1828800" cy="4389120"/>
          </a:xfrm>
          <a:prstGeom prst="rect">
            <a:avLst/>
          </a:prstGeom>
          <a:noFill/>
        </p:spPr>
        <p:txBody>
          <a:bodyPr wrap="square">
            <a:spAutoFit/>
          </a:bodyPr>
          <a:lstStyle/>
          <a:p>
            <a:pPr>
              <a:spcAft>
                <a:spcPts val="1200"/>
              </a:spcAft>
              <a:defRPr sz="1300" b="1">
                <a:solidFill>
                  <a:srgbClr val="6366F1"/>
                </a:solidFill>
                <a:latin typeface="Segoe UI"/>
              </a:defRPr>
            </a:pPr>
            <a:r>
              <a:t>4. Knapsack Selector</a:t>
            </a:r>
          </a:p>
          <a:p>
            <a:pPr>
              <a:defRPr sz="1100">
                <a:solidFill>
                  <a:srgbClr val="F8FAFC"/>
                </a:solidFill>
                <a:latin typeface="Segoe UI"/>
              </a:defRPr>
            </a:pPr>
            <a:r>
              <a:t>Greedy Density Sorting</a:t>
            </a:r>
            <a:br/>
            <a:r>
              <a:t>ρ(r) = u(r) / cost(r)</a:t>
            </a:r>
            <a:br/>
            <a:r>
              <a:t>Enforces Budget B</a:t>
            </a:r>
            <a:br/>
            <a:r>
              <a:t>Enforces Type Caps c_t</a:t>
            </a:r>
          </a:p>
        </p:txBody>
      </p:sp>
      <p:sp>
        <p:nvSpPr>
          <p:cNvPr id="13" name="Rounded Rectangle 12"/>
          <p:cNvSpPr/>
          <p:nvPr/>
        </p:nvSpPr>
        <p:spPr>
          <a:xfrm>
            <a:off x="9400032" y="1463040"/>
            <a:ext cx="20116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91472" y="1645920"/>
            <a:ext cx="1828800" cy="4389120"/>
          </a:xfrm>
          <a:prstGeom prst="rect">
            <a:avLst/>
          </a:prstGeom>
          <a:noFill/>
        </p:spPr>
        <p:txBody>
          <a:bodyPr wrap="square">
            <a:spAutoFit/>
          </a:bodyPr>
          <a:lstStyle/>
          <a:p>
            <a:pPr>
              <a:spcAft>
                <a:spcPts val="1200"/>
              </a:spcAft>
              <a:defRPr sz="1300" b="1">
                <a:solidFill>
                  <a:srgbClr val="38BDF8"/>
                </a:solidFill>
                <a:latin typeface="Segoe UI"/>
              </a:defRPr>
            </a:pPr>
            <a:r>
              <a:t>5. State Composer</a:t>
            </a:r>
          </a:p>
          <a:p>
            <a:pPr>
              <a:defRPr sz="1100">
                <a:solidFill>
                  <a:srgbClr val="F8FAFC"/>
                </a:solidFill>
                <a:latin typeface="Segoe UI"/>
              </a:defRPr>
            </a:pPr>
            <a:r>
              <a:t>Tag &amp; serialize items</a:t>
            </a:r>
            <a:br/>
            <a:r>
              <a:t>Prefix task query τ</a:t>
            </a:r>
            <a:br/>
            <a:r>
              <a:t>Compiled state S*</a:t>
            </a:r>
            <a:br/>
            <a:r>
              <a:t>Fed to Target LLM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Utility Scorer: 9-D Feature Representation</a:t>
            </a:r>
          </a:p>
        </p:txBody>
      </p:sp>
      <p:sp>
        <p:nvSpPr>
          <p:cNvPr id="5" name="Rounded Rectangle 4"/>
          <p:cNvSpPr/>
          <p:nvPr/>
        </p:nvSpPr>
        <p:spPr>
          <a:xfrm>
            <a:off x="731520" y="1371600"/>
            <a:ext cx="621792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554480"/>
          <a:ext cx="5852160" cy="4572000"/>
        </p:xfrm>
        <a:graphic>
          <a:graphicData uri="http://schemas.openxmlformats.org/drawingml/2006/table">
            <a:tbl>
              <a:tblPr firstRow="1" bandRow="1">
                <a:tableStyleId>{5C22544A-7EE6-4342-B048-85BDC9FD1C3A}</a:tableStyleId>
              </a:tblPr>
              <a:tblGrid>
                <a:gridCol w="731520"/>
                <a:gridCol w="2560320"/>
                <a:gridCol w="2560320"/>
              </a:tblGrid>
              <a:tr h="457200">
                <a:tc>
                  <a:txBody>
                    <a:bodyPr/>
                    <a:lstStyle/>
                    <a:p>
                      <a:pPr>
                        <a:defRPr b="1" sz="1000">
                          <a:solidFill>
                            <a:srgbClr val="38BDF8"/>
                          </a:solidFill>
                        </a:defRPr>
                      </a:pPr>
                      <a:r>
                        <a:t>Dim</a:t>
                      </a:r>
                    </a:p>
                  </a:txBody>
                  <a:tcPr>
                    <a:solidFill>
                      <a:srgbClr val="1E293B"/>
                    </a:solidFill>
                  </a:tcPr>
                </a:tc>
                <a:tc>
                  <a:txBody>
                    <a:bodyPr/>
                    <a:lstStyle/>
                    <a:p>
                      <a:pPr>
                        <a:defRPr b="1" sz="1000">
                          <a:solidFill>
                            <a:srgbClr val="38BDF8"/>
                          </a:solidFill>
                        </a:defRPr>
                      </a:pPr>
                      <a:r>
                        <a:t>Feature Name</a:t>
                      </a:r>
                    </a:p>
                  </a:txBody>
                  <a:tcPr>
                    <a:solidFill>
                      <a:srgbClr val="1E293B"/>
                    </a:solidFill>
                  </a:tcPr>
                </a:tc>
                <a:tc>
                  <a:txBody>
                    <a:bodyPr/>
                    <a:lstStyle/>
                    <a:p>
                      <a:pPr>
                        <a:defRPr b="1" sz="1000">
                          <a:solidFill>
                            <a:srgbClr val="38BDF8"/>
                          </a:solidFill>
                        </a:defRPr>
                      </a:pPr>
                      <a:r>
                        <a:t>Semantic Role</a:t>
                      </a:r>
                    </a:p>
                  </a:txBody>
                  <a:tcPr>
                    <a:solidFill>
                      <a:srgbClr val="1E293B"/>
                    </a:solidFill>
                  </a:tcPr>
                </a:tc>
              </a:tr>
              <a:tr h="457200">
                <a:tc>
                  <a:txBody>
                    <a:bodyPr/>
                    <a:lstStyle/>
                    <a:p>
                      <a:pPr>
                        <a:defRPr sz="950">
                          <a:solidFill>
                            <a:srgbClr val="F8FAFC"/>
                          </a:solidFill>
                        </a:defRPr>
                      </a:pPr>
                      <a:r>
                        <a:t>f_0</a:t>
                      </a:r>
                    </a:p>
                  </a:txBody>
                  <a:tcPr>
                    <a:solidFill>
                      <a:srgbClr val="18202F"/>
                    </a:solidFill>
                  </a:tcPr>
                </a:tc>
                <a:tc>
                  <a:txBody>
                    <a:bodyPr/>
                    <a:lstStyle/>
                    <a:p>
                      <a:pPr>
                        <a:defRPr sz="950">
                          <a:solidFill>
                            <a:srgbClr val="F8FAFC"/>
                          </a:solidFill>
                        </a:defRPr>
                      </a:pPr>
                      <a:r>
                        <a:t>TF-IDF Cosine (Unigram)</a:t>
                      </a:r>
                    </a:p>
                  </a:txBody>
                  <a:tcPr>
                    <a:solidFill>
                      <a:srgbClr val="18202F"/>
                    </a:solidFill>
                  </a:tcPr>
                </a:tc>
                <a:tc>
                  <a:txBody>
                    <a:bodyPr/>
                    <a:lstStyle/>
                    <a:p>
                      <a:pPr>
                        <a:defRPr sz="950">
                          <a:solidFill>
                            <a:srgbClr val="94A3B8"/>
                          </a:solidFill>
                        </a:defRPr>
                      </a:pPr>
                      <a:r>
                        <a:t>Lexical overlap with task query</a:t>
                      </a:r>
                    </a:p>
                  </a:txBody>
                  <a:tcPr>
                    <a:solidFill>
                      <a:srgbClr val="18202F"/>
                    </a:solidFill>
                  </a:tcPr>
                </a:tc>
              </a:tr>
              <a:tr h="457200">
                <a:tc>
                  <a:txBody>
                    <a:bodyPr/>
                    <a:lstStyle/>
                    <a:p>
                      <a:pPr>
                        <a:defRPr sz="950">
                          <a:solidFill>
                            <a:srgbClr val="F8FAFC"/>
                          </a:solidFill>
                        </a:defRPr>
                      </a:pPr>
                      <a:r>
                        <a:t>f_1</a:t>
                      </a:r>
                    </a:p>
                  </a:txBody>
                  <a:tcPr>
                    <a:solidFill>
                      <a:srgbClr val="1E293B"/>
                    </a:solidFill>
                  </a:tcPr>
                </a:tc>
                <a:tc>
                  <a:txBody>
                    <a:bodyPr/>
                    <a:lstStyle/>
                    <a:p>
                      <a:pPr>
                        <a:defRPr sz="950">
                          <a:solidFill>
                            <a:srgbClr val="F8FAFC"/>
                          </a:solidFill>
                        </a:defRPr>
                      </a:pPr>
                      <a:r>
                        <a:t>TF-IDF Cosine (Bigram)</a:t>
                      </a:r>
                    </a:p>
                  </a:txBody>
                  <a:tcPr>
                    <a:solidFill>
                      <a:srgbClr val="1E293B"/>
                    </a:solidFill>
                  </a:tcPr>
                </a:tc>
                <a:tc>
                  <a:txBody>
                    <a:bodyPr/>
                    <a:lstStyle/>
                    <a:p>
                      <a:pPr>
                        <a:defRPr sz="950">
                          <a:solidFill>
                            <a:srgbClr val="94A3B8"/>
                          </a:solidFill>
                        </a:defRPr>
                      </a:pPr>
                      <a:r>
                        <a:t>Collocation and phrase match</a:t>
                      </a:r>
                    </a:p>
                  </a:txBody>
                  <a:tcPr>
                    <a:solidFill>
                      <a:srgbClr val="1E293B"/>
                    </a:solidFill>
                  </a:tcPr>
                </a:tc>
              </a:tr>
              <a:tr h="457200">
                <a:tc>
                  <a:txBody>
                    <a:bodyPr/>
                    <a:lstStyle/>
                    <a:p>
                      <a:pPr>
                        <a:defRPr sz="950">
                          <a:solidFill>
                            <a:srgbClr val="F8FAFC"/>
                          </a:solidFill>
                        </a:defRPr>
                      </a:pPr>
                      <a:r>
                        <a:t>f_2</a:t>
                      </a:r>
                    </a:p>
                  </a:txBody>
                  <a:tcPr>
                    <a:solidFill>
                      <a:srgbClr val="18202F"/>
                    </a:solidFill>
                  </a:tcPr>
                </a:tc>
                <a:tc>
                  <a:txBody>
                    <a:bodyPr/>
                    <a:lstStyle/>
                    <a:p>
                      <a:pPr>
                        <a:defRPr sz="950">
                          <a:solidFill>
                            <a:srgbClr val="F8FAFC"/>
                          </a:solidFill>
                        </a:defRPr>
                      </a:pPr>
                      <a:r>
                        <a:t>Keyword/Entity Ratio</a:t>
                      </a:r>
                    </a:p>
                  </a:txBody>
                  <a:tcPr>
                    <a:solidFill>
                      <a:srgbClr val="18202F"/>
                    </a:solidFill>
                  </a:tcPr>
                </a:tc>
                <a:tc>
                  <a:txBody>
                    <a:bodyPr/>
                    <a:lstStyle/>
                    <a:p>
                      <a:pPr>
                        <a:defRPr sz="950">
                          <a:solidFill>
                            <a:srgbClr val="94A3B8"/>
                          </a:solidFill>
                        </a:defRPr>
                      </a:pPr>
                      <a:r>
                        <a:t>Non-stopword entity alignment</a:t>
                      </a:r>
                    </a:p>
                  </a:txBody>
                  <a:tcPr>
                    <a:solidFill>
                      <a:srgbClr val="18202F"/>
                    </a:solidFill>
                  </a:tcPr>
                </a:tc>
              </a:tr>
              <a:tr h="457200">
                <a:tc>
                  <a:txBody>
                    <a:bodyPr/>
                    <a:lstStyle/>
                    <a:p>
                      <a:pPr>
                        <a:defRPr sz="950">
                          <a:solidFill>
                            <a:srgbClr val="F8FAFC"/>
                          </a:solidFill>
                        </a:defRPr>
                      </a:pPr>
                      <a:r>
                        <a:t>f_3</a:t>
                      </a:r>
                    </a:p>
                  </a:txBody>
                  <a:tcPr>
                    <a:solidFill>
                      <a:srgbClr val="1E293B"/>
                    </a:solidFill>
                  </a:tcPr>
                </a:tc>
                <a:tc>
                  <a:txBody>
                    <a:bodyPr/>
                    <a:lstStyle/>
                    <a:p>
                      <a:pPr>
                        <a:defRPr sz="950">
                          <a:solidFill>
                            <a:srgbClr val="F8FAFC"/>
                          </a:solidFill>
                        </a:defRPr>
                      </a:pPr>
                      <a:r>
                        <a:t>Type == Knowledge</a:t>
                      </a:r>
                    </a:p>
                  </a:txBody>
                  <a:tcPr>
                    <a:solidFill>
                      <a:srgbClr val="1E293B"/>
                    </a:solidFill>
                  </a:tcPr>
                </a:tc>
                <a:tc>
                  <a:txBody>
                    <a:bodyPr/>
                    <a:lstStyle/>
                    <a:p>
                      <a:pPr>
                        <a:defRPr sz="950">
                          <a:solidFill>
                            <a:srgbClr val="94A3B8"/>
                          </a:solidFill>
                        </a:defRPr>
                      </a:pPr>
                      <a:r>
                        <a:t>Binary indicator (R_know)</a:t>
                      </a:r>
                    </a:p>
                  </a:txBody>
                  <a:tcPr>
                    <a:solidFill>
                      <a:srgbClr val="1E293B"/>
                    </a:solidFill>
                  </a:tcPr>
                </a:tc>
              </a:tr>
              <a:tr h="457200">
                <a:tc>
                  <a:txBody>
                    <a:bodyPr/>
                    <a:lstStyle/>
                    <a:p>
                      <a:pPr>
                        <a:defRPr sz="950">
                          <a:solidFill>
                            <a:srgbClr val="F8FAFC"/>
                          </a:solidFill>
                        </a:defRPr>
                      </a:pPr>
                      <a:r>
                        <a:t>f_4</a:t>
                      </a:r>
                    </a:p>
                  </a:txBody>
                  <a:tcPr>
                    <a:solidFill>
                      <a:srgbClr val="18202F"/>
                    </a:solidFill>
                  </a:tcPr>
                </a:tc>
                <a:tc>
                  <a:txBody>
                    <a:bodyPr/>
                    <a:lstStyle/>
                    <a:p>
                      <a:pPr>
                        <a:defRPr sz="950">
                          <a:solidFill>
                            <a:srgbClr val="F8FAFC"/>
                          </a:solidFill>
                        </a:defRPr>
                      </a:pPr>
                      <a:r>
                        <a:t>Type == Experience</a:t>
                      </a:r>
                    </a:p>
                  </a:txBody>
                  <a:tcPr>
                    <a:solidFill>
                      <a:srgbClr val="18202F"/>
                    </a:solidFill>
                  </a:tcPr>
                </a:tc>
                <a:tc>
                  <a:txBody>
                    <a:bodyPr/>
                    <a:lstStyle/>
                    <a:p>
                      <a:pPr>
                        <a:defRPr sz="950">
                          <a:solidFill>
                            <a:srgbClr val="94A3B8"/>
                          </a:solidFill>
                        </a:defRPr>
                      </a:pPr>
                      <a:r>
                        <a:t>Binary indicator (R_exp)</a:t>
                      </a:r>
                    </a:p>
                  </a:txBody>
                  <a:tcPr>
                    <a:solidFill>
                      <a:srgbClr val="18202F"/>
                    </a:solidFill>
                  </a:tcPr>
                </a:tc>
              </a:tr>
              <a:tr h="457200">
                <a:tc>
                  <a:txBody>
                    <a:bodyPr/>
                    <a:lstStyle/>
                    <a:p>
                      <a:pPr>
                        <a:defRPr sz="950">
                          <a:solidFill>
                            <a:srgbClr val="F8FAFC"/>
                          </a:solidFill>
                        </a:defRPr>
                      </a:pPr>
                      <a:r>
                        <a:t>f_5</a:t>
                      </a:r>
                    </a:p>
                  </a:txBody>
                  <a:tcPr>
                    <a:solidFill>
                      <a:srgbClr val="1E293B"/>
                    </a:solidFill>
                  </a:tcPr>
                </a:tc>
                <a:tc>
                  <a:txBody>
                    <a:bodyPr/>
                    <a:lstStyle/>
                    <a:p>
                      <a:pPr>
                        <a:defRPr sz="950">
                          <a:solidFill>
                            <a:srgbClr val="F8FAFC"/>
                          </a:solidFill>
                        </a:defRPr>
                      </a:pPr>
                      <a:r>
                        <a:t>Type == Computation</a:t>
                      </a:r>
                    </a:p>
                  </a:txBody>
                  <a:tcPr>
                    <a:solidFill>
                      <a:srgbClr val="1E293B"/>
                    </a:solidFill>
                  </a:tcPr>
                </a:tc>
                <a:tc>
                  <a:txBody>
                    <a:bodyPr/>
                    <a:lstStyle/>
                    <a:p>
                      <a:pPr>
                        <a:defRPr sz="950">
                          <a:solidFill>
                            <a:srgbClr val="94A3B8"/>
                          </a:solidFill>
                        </a:defRPr>
                      </a:pPr>
                      <a:r>
                        <a:t>Binary indicator (R_comp)</a:t>
                      </a:r>
                    </a:p>
                  </a:txBody>
                  <a:tcPr>
                    <a:solidFill>
                      <a:srgbClr val="1E293B"/>
                    </a:solidFill>
                  </a:tcPr>
                </a:tc>
              </a:tr>
              <a:tr h="457200">
                <a:tc>
                  <a:txBody>
                    <a:bodyPr/>
                    <a:lstStyle/>
                    <a:p>
                      <a:pPr>
                        <a:defRPr sz="950">
                          <a:solidFill>
                            <a:srgbClr val="F8FAFC"/>
                          </a:solidFill>
                        </a:defRPr>
                      </a:pPr>
                      <a:r>
                        <a:t>f_6</a:t>
                      </a:r>
                    </a:p>
                  </a:txBody>
                  <a:tcPr>
                    <a:solidFill>
                      <a:srgbClr val="18202F"/>
                    </a:solidFill>
                  </a:tcPr>
                </a:tc>
                <a:tc>
                  <a:txBody>
                    <a:bodyPr/>
                    <a:lstStyle/>
                    <a:p>
                      <a:pPr>
                        <a:defRPr sz="950">
                          <a:solidFill>
                            <a:srgbClr val="F8FAFC"/>
                          </a:solidFill>
                        </a:defRPr>
                      </a:pPr>
                      <a:r>
                        <a:t>Utility Hint h(r)</a:t>
                      </a:r>
                    </a:p>
                  </a:txBody>
                  <a:tcPr>
                    <a:solidFill>
                      <a:srgbClr val="18202F"/>
                    </a:solidFill>
                  </a:tcPr>
                </a:tc>
                <a:tc>
                  <a:txBody>
                    <a:bodyPr/>
                    <a:lstStyle/>
                    <a:p>
                      <a:pPr>
                        <a:defRPr sz="950">
                          <a:solidFill>
                            <a:srgbClr val="94A3B8"/>
                          </a:solidFill>
                        </a:defRPr>
                      </a:pPr>
                      <a:r>
                        <a:t>Upstream prior confidence [0, 1]</a:t>
                      </a:r>
                    </a:p>
                  </a:txBody>
                  <a:tcPr>
                    <a:solidFill>
                      <a:srgbClr val="18202F"/>
                    </a:solidFill>
                  </a:tcPr>
                </a:tc>
              </a:tr>
              <a:tr h="457200">
                <a:tc>
                  <a:txBody>
                    <a:bodyPr/>
                    <a:lstStyle/>
                    <a:p>
                      <a:pPr>
                        <a:defRPr sz="950">
                          <a:solidFill>
                            <a:srgbClr val="F8FAFC"/>
                          </a:solidFill>
                        </a:defRPr>
                      </a:pPr>
                      <a:r>
                        <a:t>f_7</a:t>
                      </a:r>
                    </a:p>
                  </a:txBody>
                  <a:tcPr>
                    <a:solidFill>
                      <a:srgbClr val="1E293B"/>
                    </a:solidFill>
                  </a:tcPr>
                </a:tc>
                <a:tc>
                  <a:txBody>
                    <a:bodyPr/>
                    <a:lstStyle/>
                    <a:p>
                      <a:pPr>
                        <a:defRPr sz="950">
                          <a:solidFill>
                            <a:srgbClr val="F8FAFC"/>
                          </a:solidFill>
                        </a:defRPr>
                      </a:pPr>
                      <a:r>
                        <a:t>Normalized Token Cost</a:t>
                      </a:r>
                    </a:p>
                  </a:txBody>
                  <a:tcPr>
                    <a:solidFill>
                      <a:srgbClr val="1E293B"/>
                    </a:solidFill>
                  </a:tcPr>
                </a:tc>
                <a:tc>
                  <a:txBody>
                    <a:bodyPr/>
                    <a:lstStyle/>
                    <a:p>
                      <a:pPr>
                        <a:defRPr sz="950">
                          <a:solidFill>
                            <a:srgbClr val="94A3B8"/>
                          </a:solidFill>
                        </a:defRPr>
                      </a:pPr>
                      <a:r>
                        <a:t>Relative cost (cost / max_cost)</a:t>
                      </a:r>
                    </a:p>
                  </a:txBody>
                  <a:tcPr>
                    <a:solidFill>
                      <a:srgbClr val="1E293B"/>
                    </a:solidFill>
                  </a:tcPr>
                </a:tc>
              </a:tr>
              <a:tr h="457200">
                <a:tc>
                  <a:txBody>
                    <a:bodyPr/>
                    <a:lstStyle/>
                    <a:p>
                      <a:pPr>
                        <a:defRPr sz="950">
                          <a:solidFill>
                            <a:srgbClr val="F8FAFC"/>
                          </a:solidFill>
                        </a:defRPr>
                      </a:pPr>
                      <a:r>
                        <a:t>f_8</a:t>
                      </a:r>
                    </a:p>
                  </a:txBody>
                  <a:tcPr>
                    <a:solidFill>
                      <a:srgbClr val="18202F"/>
                    </a:solidFill>
                  </a:tcPr>
                </a:tc>
                <a:tc>
                  <a:txBody>
                    <a:bodyPr/>
                    <a:lstStyle/>
                    <a:p>
                      <a:pPr>
                        <a:defRPr sz="950">
                          <a:solidFill>
                            <a:srgbClr val="F8FAFC"/>
                          </a:solidFill>
                        </a:defRPr>
                      </a:pPr>
                      <a:r>
                        <a:t>Utility Density Hint</a:t>
                      </a:r>
                    </a:p>
                  </a:txBody>
                  <a:tcPr>
                    <a:solidFill>
                      <a:srgbClr val="18202F"/>
                    </a:solidFill>
                  </a:tcPr>
                </a:tc>
                <a:tc>
                  <a:txBody>
                    <a:bodyPr/>
                    <a:lstStyle/>
                    <a:p>
                      <a:pPr>
                        <a:defRPr sz="950">
                          <a:solidFill>
                            <a:srgbClr val="94A3B8"/>
                          </a:solidFill>
                        </a:defRPr>
                      </a:pPr>
                      <a:r>
                        <a:t>Hint normalized by token cost</a:t>
                      </a:r>
                    </a:p>
                  </a:txBody>
                  <a:tcPr>
                    <a:solidFill>
                      <a:srgbClr val="18202F"/>
                    </a:solidFill>
                  </a:tcPr>
                </a:tc>
              </a:tr>
            </a:tbl>
          </a:graphicData>
        </a:graphic>
      </p:graphicFrame>
      <p:sp>
        <p:nvSpPr>
          <p:cNvPr id="7" name="Rounded Rectangle 6"/>
          <p:cNvSpPr/>
          <p:nvPr/>
        </p:nvSpPr>
        <p:spPr>
          <a:xfrm>
            <a:off x="7132320" y="1371600"/>
            <a:ext cx="4327855"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554480"/>
            <a:ext cx="3962095" cy="4572000"/>
          </a:xfrm>
          <a:prstGeom prst="rect">
            <a:avLst/>
          </a:prstGeom>
          <a:noFill/>
        </p:spPr>
        <p:txBody>
          <a:bodyPr wrap="square">
            <a:spAutoFit/>
          </a:bodyPr>
          <a:lstStyle/>
          <a:p>
            <a:pPr>
              <a:spcAft>
                <a:spcPts val="1000"/>
              </a:spcAft>
              <a:defRPr sz="1400" b="1">
                <a:solidFill>
                  <a:srgbClr val="34D399"/>
                </a:solidFill>
              </a:defRPr>
            </a:pPr>
            <a:r>
              <a:t>Model Specification &amp; Metrics</a:t>
            </a:r>
          </a:p>
          <a:p>
            <a:pPr>
              <a:spcAft>
                <a:spcPts val="800"/>
              </a:spcAft>
              <a:defRPr sz="1200">
                <a:latin typeface="Segoe UI"/>
              </a:defRPr>
            </a:pPr>
            <a:r>
              <a:rPr b="1">
                <a:solidFill>
                  <a:srgbClr val="F8FAFC"/>
                </a:solidFill>
              </a:rPr>
              <a:t>GBT Classifier: </a:t>
            </a:r>
            <a:r>
              <a:rPr b="0">
                <a:solidFill>
                  <a:srgbClr val="94A3B8"/>
                </a:solidFill>
              </a:rPr>
              <a:t>Gradient Boosted Trees trained with 5-fold stratified CV across pooled benchmark data.</a:t>
            </a:r>
          </a:p>
          <a:p>
            <a:pPr>
              <a:spcAft>
                <a:spcPts val="800"/>
              </a:spcAft>
              <a:defRPr sz="1200">
                <a:latin typeface="Segoe UI"/>
              </a:defRPr>
            </a:pPr>
            <a:r>
              <a:rPr b="1">
                <a:solidFill>
                  <a:srgbClr val="F8FAFC"/>
                </a:solidFill>
              </a:rPr>
              <a:t>Cross-Validation: </a:t>
            </a:r>
            <a:r>
              <a:rPr b="0">
                <a:solidFill>
                  <a:srgbClr val="94A3B8"/>
                </a:solidFill>
              </a:rPr>
              <a:t>98.6% ± 0.3% Accuracy | 94.2% ± 1.1% F1 (Precision ~97%, Recall ~92%).</a:t>
            </a:r>
          </a:p>
          <a:p>
            <a:pPr>
              <a:spcAft>
                <a:spcPts val="800"/>
              </a:spcAft>
              <a:defRPr sz="1200">
                <a:latin typeface="Segoe UI"/>
              </a:defRPr>
            </a:pPr>
            <a:r>
              <a:rPr b="1">
                <a:solidFill>
                  <a:srgbClr val="F8FAFC"/>
                </a:solidFill>
              </a:rPr>
              <a:t>Fallback Dense Scorer: </a:t>
            </a:r>
            <a:r>
              <a:rPr b="0">
                <a:solidFill>
                  <a:srgbClr val="94A3B8"/>
                </a:solidFill>
              </a:rPr>
              <a:t>Hand-crafted bigram similarity + entity overlap + type priors (0.05 know, 0.15 exp, 0.20 comp) with relevance gate.</a:t>
            </a:r>
          </a:p>
          <a:p>
            <a:pPr>
              <a:spcAft>
                <a:spcPts val="800"/>
              </a:spcAft>
              <a:defRPr sz="1200">
                <a:latin typeface="Segoe UI"/>
              </a:defRPr>
            </a:pPr>
            <a:r>
              <a:rPr b="1">
                <a:solidFill>
                  <a:srgbClr val="F8FAFC"/>
                </a:solidFill>
              </a:rPr>
              <a:t>Open Disclosure: </a:t>
            </a:r>
            <a:r>
              <a:rPr b="0">
                <a:solidFill>
                  <a:srgbClr val="94A3B8"/>
                </a:solidFill>
              </a:rPr>
              <a:t>Labels derived from required-facts rule; reflects in-distribution recovery rather than OOD generalization.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Selector Verification: Greedy vs Exact DP Knapsack</a:t>
            </a:r>
          </a:p>
        </p:txBody>
      </p:sp>
      <p:sp>
        <p:nvSpPr>
          <p:cNvPr id="5" name="Rounded Rectangle 4"/>
          <p:cNvSpPr/>
          <p:nvPr/>
        </p:nvSpPr>
        <p:spPr>
          <a:xfrm>
            <a:off x="731520" y="1371600"/>
            <a:ext cx="10728655"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554480"/>
          <a:ext cx="10362895" cy="2011680"/>
        </p:xfrm>
        <a:graphic>
          <a:graphicData uri="http://schemas.openxmlformats.org/drawingml/2006/table">
            <a:tbl>
              <a:tblPr firstRow="1" bandRow="1">
                <a:tableStyleId>{5C22544A-7EE6-4342-B048-85BDC9FD1C3A}</a:tableStyleId>
              </a:tblPr>
              <a:tblGrid>
                <a:gridCol w="2743200"/>
                <a:gridCol w="1828800"/>
                <a:gridCol w="1828800"/>
                <a:gridCol w="1828800"/>
                <a:gridCol w="2133295"/>
              </a:tblGrid>
              <a:tr h="402336">
                <a:tc>
                  <a:txBody>
                    <a:bodyPr/>
                    <a:lstStyle/>
                    <a:p>
                      <a:pPr>
                        <a:defRPr b="1" sz="1100">
                          <a:solidFill>
                            <a:srgbClr val="38BDF8"/>
                          </a:solidFill>
                        </a:defRPr>
                      </a:pPr>
                      <a:r>
                        <a:t>Benchmark Domain (@ B=500)</a:t>
                      </a:r>
                    </a:p>
                  </a:txBody>
                  <a:tcPr>
                    <a:solidFill>
                      <a:srgbClr val="1E293B"/>
                    </a:solidFill>
                  </a:tcPr>
                </a:tc>
                <a:tc>
                  <a:txBody>
                    <a:bodyPr/>
                    <a:lstStyle/>
                    <a:p>
                      <a:pPr>
                        <a:defRPr b="1" sz="1100">
                          <a:solidFill>
                            <a:srgbClr val="38BDF8"/>
                          </a:solidFill>
                        </a:defRPr>
                      </a:pPr>
                      <a:r>
                        <a:t>Greedy Coverage</a:t>
                      </a:r>
                    </a:p>
                  </a:txBody>
                  <a:tcPr>
                    <a:solidFill>
                      <a:srgbClr val="1E293B"/>
                    </a:solidFill>
                  </a:tcPr>
                </a:tc>
                <a:tc>
                  <a:txBody>
                    <a:bodyPr/>
                    <a:lstStyle/>
                    <a:p>
                      <a:pPr>
                        <a:defRPr b="1" sz="1100">
                          <a:solidFill>
                            <a:srgbClr val="38BDF8"/>
                          </a:solidFill>
                        </a:defRPr>
                      </a:pPr>
                      <a:r>
                        <a:t>Exact DP Coverage</a:t>
                      </a:r>
                    </a:p>
                  </a:txBody>
                  <a:tcPr>
                    <a:solidFill>
                      <a:srgbClr val="1E293B"/>
                    </a:solidFill>
                  </a:tcPr>
                </a:tc>
                <a:tc>
                  <a:txBody>
                    <a:bodyPr/>
                    <a:lstStyle/>
                    <a:p>
                      <a:pPr>
                        <a:defRPr b="1" sz="1100">
                          <a:solidFill>
                            <a:srgbClr val="38BDF8"/>
                          </a:solidFill>
                        </a:defRPr>
                      </a:pPr>
                      <a:r>
                        <a:t>Optimality Gap</a:t>
                      </a:r>
                    </a:p>
                  </a:txBody>
                  <a:tcPr>
                    <a:solidFill>
                      <a:srgbClr val="1E293B"/>
                    </a:solidFill>
                  </a:tcPr>
                </a:tc>
                <a:tc>
                  <a:txBody>
                    <a:bodyPr/>
                    <a:lstStyle/>
                    <a:p>
                      <a:pPr>
                        <a:defRPr b="1" sz="1100">
                          <a:solidFill>
                            <a:srgbClr val="38BDF8"/>
                          </a:solidFill>
                        </a:defRPr>
                      </a:pPr>
                      <a:r>
                        <a:t>Runtime Latency</a:t>
                      </a:r>
                    </a:p>
                  </a:txBody>
                  <a:tcPr>
                    <a:solidFill>
                      <a:srgbClr val="1E293B"/>
                    </a:solidFill>
                  </a:tcPr>
                </a:tc>
              </a:tr>
              <a:tr h="402336">
                <a:tc>
                  <a:txBody>
                    <a:bodyPr/>
                    <a:lstStyle/>
                    <a:p>
                      <a:pPr>
                        <a:defRPr sz="1000">
                          <a:solidFill>
                            <a:srgbClr val="F8FAFC"/>
                          </a:solidFill>
                        </a:defRPr>
                      </a:pPr>
                      <a:r>
                        <a:t>HotpotQA (N=15 multi-hop sample)</a:t>
                      </a:r>
                    </a:p>
                  </a:txBody>
                  <a:tcPr>
                    <a:solidFill>
                      <a:srgbClr val="18202F"/>
                    </a:solidFill>
                  </a:tcPr>
                </a:tc>
                <a:tc>
                  <a:txBody>
                    <a:bodyPr/>
                    <a:lstStyle/>
                    <a:p>
                      <a:pPr>
                        <a:defRPr sz="1000">
                          <a:solidFill>
                            <a:srgbClr val="34D399"/>
                          </a:solidFill>
                        </a:defRPr>
                      </a:pPr>
                      <a:r>
                        <a:t>100.0%</a:t>
                      </a:r>
                    </a:p>
                  </a:txBody>
                  <a:tcPr>
                    <a:solidFill>
                      <a:srgbClr val="18202F"/>
                    </a:solidFill>
                  </a:tcPr>
                </a:tc>
                <a:tc>
                  <a:txBody>
                    <a:bodyPr/>
                    <a:lstStyle/>
                    <a:p>
                      <a:pPr>
                        <a:defRPr sz="1000">
                          <a:solidFill>
                            <a:srgbClr val="34D399"/>
                          </a:solidFill>
                        </a:defRPr>
                      </a:pPr>
                      <a:r>
                        <a:t>100.0%</a:t>
                      </a:r>
                    </a:p>
                  </a:txBody>
                  <a:tcPr>
                    <a:solidFill>
                      <a:srgbClr val="18202F"/>
                    </a:solidFill>
                  </a:tcPr>
                </a:tc>
                <a:tc>
                  <a:txBody>
                    <a:bodyPr/>
                    <a:lstStyle/>
                    <a:p>
                      <a:pPr>
                        <a:defRPr sz="1000">
                          <a:solidFill>
                            <a:srgbClr val="34D399"/>
                          </a:solidFill>
                        </a:defRPr>
                      </a:pPr>
                      <a:r>
                        <a:t>0.0%</a:t>
                      </a:r>
                    </a:p>
                  </a:txBody>
                  <a:tcPr>
                    <a:solidFill>
                      <a:srgbClr val="18202F"/>
                    </a:solidFill>
                  </a:tcPr>
                </a:tc>
                <a:tc>
                  <a:txBody>
                    <a:bodyPr/>
                    <a:lstStyle/>
                    <a:p>
                      <a:pPr>
                        <a:defRPr sz="1000">
                          <a:solidFill>
                            <a:srgbClr val="F8FAFC"/>
                          </a:solidFill>
                        </a:defRPr>
                      </a:pPr>
                      <a:r>
                        <a:t>&lt; 0.15 ms vs 0.72 ms</a:t>
                      </a:r>
                    </a:p>
                  </a:txBody>
                  <a:tcPr>
                    <a:solidFill>
                      <a:srgbClr val="18202F"/>
                    </a:solidFill>
                  </a:tcPr>
                </a:tc>
              </a:tr>
              <a:tr h="402336">
                <a:tc>
                  <a:txBody>
                    <a:bodyPr/>
                    <a:lstStyle/>
                    <a:p>
                      <a:pPr>
                        <a:defRPr sz="1000">
                          <a:solidFill>
                            <a:srgbClr val="F8FAFC"/>
                          </a:solidFill>
                        </a:defRPr>
                      </a:pPr>
                      <a:r>
                        <a:t>Natural Questions (Wikipedia QA)</a:t>
                      </a:r>
                    </a:p>
                  </a:txBody>
                  <a:tcPr>
                    <a:solidFill>
                      <a:srgbClr val="1E293B"/>
                    </a:solidFill>
                  </a:tcPr>
                </a:tc>
                <a:tc>
                  <a:txBody>
                    <a:bodyPr/>
                    <a:lstStyle/>
                    <a:p>
                      <a:pPr>
                        <a:defRPr sz="1000">
                          <a:solidFill>
                            <a:srgbClr val="34D399"/>
                          </a:solidFill>
                        </a:defRPr>
                      </a:pPr>
                      <a:r>
                        <a:t>100.0%</a:t>
                      </a:r>
                    </a:p>
                  </a:txBody>
                  <a:tcPr>
                    <a:solidFill>
                      <a:srgbClr val="1E293B"/>
                    </a:solidFill>
                  </a:tcPr>
                </a:tc>
                <a:tc>
                  <a:txBody>
                    <a:bodyPr/>
                    <a:lstStyle/>
                    <a:p>
                      <a:pPr>
                        <a:defRPr sz="1000">
                          <a:solidFill>
                            <a:srgbClr val="34D399"/>
                          </a:solidFill>
                        </a:defRPr>
                      </a:pPr>
                      <a:r>
                        <a:t>100.0%</a:t>
                      </a:r>
                    </a:p>
                  </a:txBody>
                  <a:tcPr>
                    <a:solidFill>
                      <a:srgbClr val="1E293B"/>
                    </a:solidFill>
                  </a:tcPr>
                </a:tc>
                <a:tc>
                  <a:txBody>
                    <a:bodyPr/>
                    <a:lstStyle/>
                    <a:p>
                      <a:pPr>
                        <a:defRPr sz="1000">
                          <a:solidFill>
                            <a:srgbClr val="34D399"/>
                          </a:solidFill>
                        </a:defRPr>
                      </a:pPr>
                      <a:r>
                        <a:t>0.0%</a:t>
                      </a:r>
                    </a:p>
                  </a:txBody>
                  <a:tcPr>
                    <a:solidFill>
                      <a:srgbClr val="1E293B"/>
                    </a:solidFill>
                  </a:tcPr>
                </a:tc>
                <a:tc>
                  <a:txBody>
                    <a:bodyPr/>
                    <a:lstStyle/>
                    <a:p>
                      <a:pPr>
                        <a:defRPr sz="1000">
                          <a:solidFill>
                            <a:srgbClr val="F8FAFC"/>
                          </a:solidFill>
                        </a:defRPr>
                      </a:pPr>
                      <a:r>
                        <a:t>&lt; 0.10 ms vs 0.45 ms</a:t>
                      </a:r>
                    </a:p>
                  </a:txBody>
                  <a:tcPr>
                    <a:solidFill>
                      <a:srgbClr val="1E293B"/>
                    </a:solidFill>
                  </a:tcPr>
                </a:tc>
              </a:tr>
              <a:tr h="402336">
                <a:tc>
                  <a:txBody>
                    <a:bodyPr/>
                    <a:lstStyle/>
                    <a:p>
                      <a:pPr>
                        <a:defRPr sz="1000">
                          <a:solidFill>
                            <a:srgbClr val="F8FAFC"/>
                          </a:solidFill>
                        </a:defRPr>
                      </a:pPr>
                      <a:r>
                        <a:t>Chained NQ (Q4 multi-turn)</a:t>
                      </a:r>
                    </a:p>
                  </a:txBody>
                  <a:tcPr>
                    <a:solidFill>
                      <a:srgbClr val="18202F"/>
                    </a:solidFill>
                  </a:tcPr>
                </a:tc>
                <a:tc>
                  <a:txBody>
                    <a:bodyPr/>
                    <a:lstStyle/>
                    <a:p>
                      <a:pPr>
                        <a:defRPr sz="1000">
                          <a:solidFill>
                            <a:srgbClr val="34D399"/>
                          </a:solidFill>
                        </a:defRPr>
                      </a:pPr>
                      <a:r>
                        <a:t>100.0%</a:t>
                      </a:r>
                    </a:p>
                  </a:txBody>
                  <a:tcPr>
                    <a:solidFill>
                      <a:srgbClr val="18202F"/>
                    </a:solidFill>
                  </a:tcPr>
                </a:tc>
                <a:tc>
                  <a:txBody>
                    <a:bodyPr/>
                    <a:lstStyle/>
                    <a:p>
                      <a:pPr>
                        <a:defRPr sz="1000">
                          <a:solidFill>
                            <a:srgbClr val="34D399"/>
                          </a:solidFill>
                        </a:defRPr>
                      </a:pPr>
                      <a:r>
                        <a:t>100.0%</a:t>
                      </a:r>
                    </a:p>
                  </a:txBody>
                  <a:tcPr>
                    <a:solidFill>
                      <a:srgbClr val="18202F"/>
                    </a:solidFill>
                  </a:tcPr>
                </a:tc>
                <a:tc>
                  <a:txBody>
                    <a:bodyPr/>
                    <a:lstStyle/>
                    <a:p>
                      <a:pPr>
                        <a:defRPr sz="1000">
                          <a:solidFill>
                            <a:srgbClr val="34D399"/>
                          </a:solidFill>
                        </a:defRPr>
                      </a:pPr>
                      <a:r>
                        <a:t>0.0%</a:t>
                      </a:r>
                    </a:p>
                  </a:txBody>
                  <a:tcPr>
                    <a:solidFill>
                      <a:srgbClr val="18202F"/>
                    </a:solidFill>
                  </a:tcPr>
                </a:tc>
                <a:tc>
                  <a:txBody>
                    <a:bodyPr/>
                    <a:lstStyle/>
                    <a:p>
                      <a:pPr>
                        <a:defRPr sz="1000">
                          <a:solidFill>
                            <a:srgbClr val="F8FAFC"/>
                          </a:solidFill>
                        </a:defRPr>
                      </a:pPr>
                      <a:r>
                        <a:t>&lt; 0.12 ms vs 0.51 ms</a:t>
                      </a:r>
                    </a:p>
                  </a:txBody>
                  <a:tcPr>
                    <a:solidFill>
                      <a:srgbClr val="18202F"/>
                    </a:solidFill>
                  </a:tcPr>
                </a:tc>
              </a:tr>
              <a:tr h="402336">
                <a:tc>
                  <a:txBody>
                    <a:bodyPr/>
                    <a:lstStyle/>
                    <a:p>
                      <a:pPr>
                        <a:defRPr sz="1000">
                          <a:solidFill>
                            <a:srgbClr val="F8FAFC"/>
                          </a:solidFill>
                        </a:defRPr>
                      </a:pPr>
                      <a:r>
                        <a:t>WebShop (interactive e-commerce)</a:t>
                      </a:r>
                    </a:p>
                  </a:txBody>
                  <a:tcPr>
                    <a:solidFill>
                      <a:srgbClr val="1E293B"/>
                    </a:solidFill>
                  </a:tcPr>
                </a:tc>
                <a:tc>
                  <a:txBody>
                    <a:bodyPr/>
                    <a:lstStyle/>
                    <a:p>
                      <a:pPr>
                        <a:defRPr sz="1000">
                          <a:solidFill>
                            <a:srgbClr val="34D399"/>
                          </a:solidFill>
                        </a:defRPr>
                      </a:pPr>
                      <a:r>
                        <a:t>100.0%</a:t>
                      </a:r>
                    </a:p>
                  </a:txBody>
                  <a:tcPr>
                    <a:solidFill>
                      <a:srgbClr val="1E293B"/>
                    </a:solidFill>
                  </a:tcPr>
                </a:tc>
                <a:tc>
                  <a:txBody>
                    <a:bodyPr/>
                    <a:lstStyle/>
                    <a:p>
                      <a:pPr>
                        <a:defRPr sz="1000">
                          <a:solidFill>
                            <a:srgbClr val="34D399"/>
                          </a:solidFill>
                        </a:defRPr>
                      </a:pPr>
                      <a:r>
                        <a:t>100.0%</a:t>
                      </a:r>
                    </a:p>
                  </a:txBody>
                  <a:tcPr>
                    <a:solidFill>
                      <a:srgbClr val="1E293B"/>
                    </a:solidFill>
                  </a:tcPr>
                </a:tc>
                <a:tc>
                  <a:txBody>
                    <a:bodyPr/>
                    <a:lstStyle/>
                    <a:p>
                      <a:pPr>
                        <a:defRPr sz="1000">
                          <a:solidFill>
                            <a:srgbClr val="34D399"/>
                          </a:solidFill>
                        </a:defRPr>
                      </a:pPr>
                      <a:r>
                        <a:t>0.0%</a:t>
                      </a:r>
                    </a:p>
                  </a:txBody>
                  <a:tcPr>
                    <a:solidFill>
                      <a:srgbClr val="1E293B"/>
                    </a:solidFill>
                  </a:tcPr>
                </a:tc>
                <a:tc>
                  <a:txBody>
                    <a:bodyPr/>
                    <a:lstStyle/>
                    <a:p>
                      <a:pPr>
                        <a:defRPr sz="1000">
                          <a:solidFill>
                            <a:srgbClr val="F8FAFC"/>
                          </a:solidFill>
                        </a:defRPr>
                      </a:pPr>
                      <a:r>
                        <a:t>&lt; 0.08 ms vs 0.32 ms</a:t>
                      </a:r>
                    </a:p>
                  </a:txBody>
                  <a:tcPr>
                    <a:solidFill>
                      <a:srgbClr val="1E293B"/>
                    </a:solidFill>
                  </a:tcPr>
                </a:tc>
              </a:tr>
            </a:tbl>
          </a:graphicData>
        </a:graphic>
      </p:graphicFrame>
      <p:sp>
        <p:nvSpPr>
          <p:cNvPr id="7" name="Rounded Rectangle 6"/>
          <p:cNvSpPr/>
          <p:nvPr/>
        </p:nvSpPr>
        <p:spPr>
          <a:xfrm>
            <a:off x="731520" y="3931920"/>
            <a:ext cx="10728655"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114800"/>
            <a:ext cx="10362895" cy="2011680"/>
          </a:xfrm>
          <a:prstGeom prst="rect">
            <a:avLst/>
          </a:prstGeom>
          <a:noFill/>
        </p:spPr>
        <p:txBody>
          <a:bodyPr wrap="square">
            <a:spAutoFit/>
          </a:bodyPr>
          <a:lstStyle/>
          <a:p>
            <a:pPr>
              <a:spcAft>
                <a:spcPts val="800"/>
              </a:spcAft>
              <a:defRPr sz="1300">
                <a:latin typeface="Segoe UI"/>
              </a:defRPr>
            </a:pPr>
            <a:r>
              <a:rPr b="1">
                <a:solidFill>
                  <a:srgbClr val="F8FAFC"/>
                </a:solidFill>
              </a:rPr>
              <a:t>Theoretical Guarantee vs Empirical Realism: </a:t>
            </a:r>
            <a:r>
              <a:rPr b="0">
                <a:solidFill>
                  <a:srgbClr val="94A3B8"/>
                </a:solidFill>
              </a:rPr>
              <a:t>While 0/1 knapsack is NP-hard, Dantzig's greedy density heuristic achieves 0.0% coverage loss on all tested domains.</a:t>
            </a:r>
          </a:p>
          <a:p>
            <a:pPr>
              <a:spcAft>
                <a:spcPts val="800"/>
              </a:spcAft>
              <a:defRPr sz="1300">
                <a:latin typeface="Segoe UI"/>
              </a:defRPr>
            </a:pPr>
            <a:r>
              <a:rPr b="1">
                <a:solidFill>
                  <a:srgbClr val="F8FAFC"/>
                </a:solidFill>
              </a:rPr>
              <a:t>Sub-Millisecond Inference Speed: </a:t>
            </a:r>
            <a:r>
              <a:rPr b="0">
                <a:solidFill>
                  <a:srgbClr val="94A3B8"/>
                </a:solidFill>
              </a:rPr>
              <a:t>Greedy density sorting runs in &lt; 0.15 ms per step, making it ~5x faster than exact DP and completely negligible compared to LLM forward passes (typically 50-500 ms).</a:t>
            </a:r>
          </a:p>
          <a:p>
            <a:pPr>
              <a:spcAft>
                <a:spcPts val="800"/>
              </a:spcAft>
              <a:defRPr sz="1300">
                <a:latin typeface="Segoe UI"/>
              </a:defRPr>
            </a:pPr>
            <a:r>
              <a:rPr b="1">
                <a:solidFill>
                  <a:srgbClr val="F8FAFC"/>
                </a:solidFill>
              </a:rPr>
              <a:t>Practical Conclusion: </a:t>
            </a:r>
            <a:r>
              <a:rPr b="0">
                <a:solidFill>
                  <a:srgbClr val="94A3B8"/>
                </a:solidFill>
              </a:rPr>
              <a:t>The greedy density selector can be deployed safely without sacrificing answer accuracy or violating strict latency budgets.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Experimental Setup: Domains &amp; Baselines</a:t>
            </a:r>
          </a:p>
        </p:txBody>
      </p:sp>
      <p:sp>
        <p:nvSpPr>
          <p:cNvPr id="5" name="Rounded Rectangle 4"/>
          <p:cNvSpPr/>
          <p:nvPr/>
        </p:nvSpPr>
        <p:spPr>
          <a:xfrm>
            <a:off x="7315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572000"/>
          </a:xfrm>
          <a:prstGeom prst="rect">
            <a:avLst/>
          </a:prstGeom>
          <a:noFill/>
        </p:spPr>
        <p:txBody>
          <a:bodyPr wrap="square">
            <a:spAutoFit/>
          </a:bodyPr>
          <a:lstStyle/>
          <a:p>
            <a:pPr>
              <a:spcAft>
                <a:spcPts val="1200"/>
              </a:spcAft>
              <a:defRPr sz="1600" b="1">
                <a:solidFill>
                  <a:srgbClr val="38BDF8"/>
                </a:solidFill>
              </a:defRPr>
            </a:pPr>
            <a:r>
              <a:t>4 Evaluation Domains</a:t>
            </a:r>
          </a:p>
          <a:p>
            <a:pPr>
              <a:spcAft>
                <a:spcPts val="800"/>
              </a:spcAft>
              <a:defRPr sz="1200">
                <a:latin typeface="Segoe UI"/>
              </a:defRPr>
            </a:pPr>
            <a:r>
              <a:rPr b="1">
                <a:solidFill>
                  <a:srgbClr val="F8FAFC"/>
                </a:solidFill>
              </a:rPr>
              <a:t>HotpotQA (Multi-hop): </a:t>
            </a:r>
            <a:r>
              <a:rPr b="0">
                <a:solidFill>
                  <a:srgbClr val="94A3B8"/>
                </a:solidFill>
              </a:rPr>
              <a:t>Requires chaining 2-3 supporting documents while rejecting heavy distractor pools (15-task evaluation sample).</a:t>
            </a:r>
          </a:p>
          <a:p>
            <a:pPr>
              <a:spcAft>
                <a:spcPts val="800"/>
              </a:spcAft>
              <a:defRPr sz="1200">
                <a:latin typeface="Segoe UI"/>
              </a:defRPr>
            </a:pPr>
            <a:r>
              <a:rPr b="1">
                <a:solidFill>
                  <a:srgbClr val="F8FAFC"/>
                </a:solidFill>
              </a:rPr>
              <a:t>Natural Questions (NQ): </a:t>
            </a:r>
            <a:r>
              <a:rPr b="0">
                <a:solidFill>
                  <a:srgbClr val="94A3B8"/>
                </a:solidFill>
              </a:rPr>
              <a:t>Real-world search queries with historical experience and query variations.</a:t>
            </a:r>
          </a:p>
          <a:p>
            <a:pPr>
              <a:spcAft>
                <a:spcPts val="800"/>
              </a:spcAft>
              <a:defRPr sz="1200">
                <a:latin typeface="Segoe UI"/>
              </a:defRPr>
            </a:pPr>
            <a:r>
              <a:rPr b="1">
                <a:solidFill>
                  <a:srgbClr val="F8FAFC"/>
                </a:solidFill>
              </a:rPr>
              <a:t>Chained NQ (Q4): </a:t>
            </a:r>
            <a:r>
              <a:rPr b="0">
                <a:solidFill>
                  <a:srgbClr val="94A3B8"/>
                </a:solidFill>
              </a:rPr>
              <a:t>Multi-turn dialog with coreference dependencies on previous turns.</a:t>
            </a:r>
          </a:p>
          <a:p>
            <a:pPr>
              <a:spcAft>
                <a:spcPts val="800"/>
              </a:spcAft>
              <a:defRPr sz="1200">
                <a:latin typeface="Segoe UI"/>
              </a:defRPr>
            </a:pPr>
            <a:r>
              <a:rPr b="1">
                <a:solidFill>
                  <a:srgbClr val="F8FAFC"/>
                </a:solidFill>
              </a:rPr>
              <a:t>WebShop (Interactive): </a:t>
            </a:r>
            <a:r>
              <a:rPr b="0">
                <a:solidFill>
                  <a:srgbClr val="94A3B8"/>
                </a:solidFill>
              </a:rPr>
              <a:t>E-commerce decision trajectories with search traces and attribute filtering (5 curated tasks).</a:t>
            </a:r>
          </a:p>
        </p:txBody>
      </p:sp>
      <p:sp>
        <p:nvSpPr>
          <p:cNvPr id="7" name="Rounded Rectangle 6"/>
          <p:cNvSpPr/>
          <p:nvPr/>
        </p:nvSpPr>
        <p:spPr>
          <a:xfrm>
            <a:off x="62179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572000"/>
          </a:xfrm>
          <a:prstGeom prst="rect">
            <a:avLst/>
          </a:prstGeom>
          <a:noFill/>
        </p:spPr>
        <p:txBody>
          <a:bodyPr wrap="square">
            <a:spAutoFit/>
          </a:bodyPr>
          <a:lstStyle/>
          <a:p>
            <a:pPr>
              <a:spcAft>
                <a:spcPts val="1200"/>
              </a:spcAft>
              <a:defRPr sz="1600" b="1">
                <a:solidFill>
                  <a:srgbClr val="34D399"/>
                </a:solidFill>
              </a:defRPr>
            </a:pPr>
            <a:r>
              <a:t>6 Evaluated Systems</a:t>
            </a:r>
          </a:p>
          <a:p>
            <a:pPr>
              <a:spcAft>
                <a:spcPts val="800"/>
              </a:spcAft>
              <a:defRPr sz="1200">
                <a:latin typeface="Segoe UI"/>
              </a:defRPr>
            </a:pPr>
            <a:r>
              <a:rPr b="1">
                <a:solidFill>
                  <a:srgbClr val="F8FAFC"/>
                </a:solidFill>
              </a:rPr>
              <a:t>B0 Full Context: </a:t>
            </a:r>
            <a:r>
              <a:rPr b="0">
                <a:solidFill>
                  <a:srgbClr val="94A3B8"/>
                </a:solidFill>
              </a:rPr>
              <a:t>Appends raw history chronologically until budget exhaustion (no ranking).</a:t>
            </a:r>
          </a:p>
          <a:p>
            <a:pPr>
              <a:spcAft>
                <a:spcPts val="800"/>
              </a:spcAft>
              <a:defRPr sz="1200">
                <a:latin typeface="Segoe UI"/>
              </a:defRPr>
            </a:pPr>
            <a:r>
              <a:rPr b="1">
                <a:solidFill>
                  <a:srgbClr val="F8FAFC"/>
                </a:solidFill>
              </a:rPr>
              <a:t>B1 Standard RAG: </a:t>
            </a:r>
            <a:r>
              <a:rPr b="0">
                <a:solidFill>
                  <a:srgbClr val="94A3B8"/>
                </a:solidFill>
              </a:rPr>
              <a:t>Top-k retrieval from knowledge pool only via TF-IDF cosine similarity.</a:t>
            </a:r>
          </a:p>
          <a:p>
            <a:pPr>
              <a:spcAft>
                <a:spcPts val="800"/>
              </a:spcAft>
              <a:defRPr sz="1200">
                <a:latin typeface="Segoe UI"/>
              </a:defRPr>
            </a:pPr>
            <a:r>
              <a:rPr b="1">
                <a:solidFill>
                  <a:srgbClr val="F8FAFC"/>
                </a:solidFill>
              </a:rPr>
              <a:t>B2 Memory RAG: </a:t>
            </a:r>
            <a:r>
              <a:rPr b="0">
                <a:solidFill>
                  <a:srgbClr val="94A3B8"/>
                </a:solidFill>
              </a:rPr>
              <a:t>Top-k retrieval over knowledge + experience pools.</a:t>
            </a:r>
          </a:p>
          <a:p>
            <a:pPr>
              <a:spcAft>
                <a:spcPts val="800"/>
              </a:spcAft>
              <a:defRPr sz="1200">
                <a:latin typeface="Segoe UI"/>
              </a:defRPr>
            </a:pPr>
            <a:r>
              <a:rPr b="1">
                <a:solidFill>
                  <a:srgbClr val="F8FAFC"/>
                </a:solidFill>
              </a:rPr>
              <a:t>B3 Relevance-Only: </a:t>
            </a:r>
            <a:r>
              <a:rPr b="0">
                <a:solidFill>
                  <a:srgbClr val="94A3B8"/>
                </a:solidFill>
              </a:rPr>
              <a:t>Flat cosine relevance across all 3 pools (no type priors, no learning).</a:t>
            </a:r>
          </a:p>
          <a:p>
            <a:pPr>
              <a:spcAft>
                <a:spcPts val="800"/>
              </a:spcAft>
              <a:defRPr sz="1200">
                <a:latin typeface="Segoe UI"/>
              </a:defRPr>
            </a:pPr>
            <a:r>
              <a:rPr b="1">
                <a:solidFill>
                  <a:srgbClr val="F8FAFC"/>
                </a:solidFill>
              </a:rPr>
              <a:t>B4 CSC (Ours): </a:t>
            </a:r>
            <a:r>
              <a:rPr b="0">
                <a:solidFill>
                  <a:srgbClr val="94A3B8"/>
                </a:solidFill>
              </a:rPr>
              <a:t>Trained 9-D GBT scorer + greedy knapsack selector.</a:t>
            </a:r>
          </a:p>
          <a:p>
            <a:pPr>
              <a:spcAft>
                <a:spcPts val="800"/>
              </a:spcAft>
              <a:defRPr sz="1200">
                <a:latin typeface="Segoe UI"/>
              </a:defRPr>
            </a:pPr>
            <a:r>
              <a:rPr b="1">
                <a:solidFill>
                  <a:srgbClr val="F8FAFC"/>
                </a:solidFill>
              </a:rPr>
              <a:t>B5 MEM1-Style: </a:t>
            </a:r>
            <a:r>
              <a:rPr b="0">
                <a:solidFill>
                  <a:srgbClr val="94A3B8"/>
                </a:solidFill>
              </a:rPr>
              <a:t>Controlled sequential fill-and-replace recurrent buffer approximation.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HotpotQA Coverage @ Budget B=500 Tokens</a:t>
            </a:r>
          </a:p>
        </p:txBody>
      </p:sp>
      <p:sp>
        <p:nvSpPr>
          <p:cNvPr id="5" name="Rounded Rectangle 4"/>
          <p:cNvSpPr/>
          <p:nvPr/>
        </p:nvSpPr>
        <p:spPr>
          <a:xfrm>
            <a:off x="7315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554480"/>
          <a:ext cx="4846320" cy="3291840"/>
        </p:xfrm>
        <a:graphic>
          <a:graphicData uri="http://schemas.openxmlformats.org/drawingml/2006/table">
            <a:tbl>
              <a:tblPr firstRow="1" bandRow="1">
                <a:tableStyleId>{5C22544A-7EE6-4342-B048-85BDC9FD1C3A}</a:tableStyleId>
              </a:tblPr>
              <a:tblGrid>
                <a:gridCol w="2103120"/>
                <a:gridCol w="914400"/>
                <a:gridCol w="914400"/>
                <a:gridCol w="914400"/>
              </a:tblGrid>
              <a:tr h="470262">
                <a:tc>
                  <a:txBody>
                    <a:bodyPr/>
                    <a:lstStyle/>
                    <a:p>
                      <a:pPr>
                        <a:defRPr b="1" sz="1100">
                          <a:solidFill>
                            <a:srgbClr val="38BDF8"/>
                          </a:solidFill>
                        </a:defRPr>
                      </a:pPr>
                      <a:r>
                        <a:t>Method</a:t>
                      </a:r>
                    </a:p>
                  </a:txBody>
                  <a:tcPr>
                    <a:solidFill>
                      <a:srgbClr val="1E293B"/>
                    </a:solidFill>
                  </a:tcPr>
                </a:tc>
                <a:tc>
                  <a:txBody>
                    <a:bodyPr/>
                    <a:lstStyle/>
                    <a:p>
                      <a:pPr>
                        <a:defRPr b="1" sz="1100">
                          <a:solidFill>
                            <a:srgbClr val="38BDF8"/>
                          </a:solidFill>
                        </a:defRPr>
                      </a:pPr>
                      <a:r>
                        <a:t>Coverage</a:t>
                      </a:r>
                    </a:p>
                  </a:txBody>
                  <a:tcPr>
                    <a:solidFill>
                      <a:srgbClr val="1E293B"/>
                    </a:solidFill>
                  </a:tcPr>
                </a:tc>
                <a:tc>
                  <a:txBody>
                    <a:bodyPr/>
                    <a:lstStyle/>
                    <a:p>
                      <a:pPr>
                        <a:defRPr b="1" sz="1100">
                          <a:solidFill>
                            <a:srgbClr val="38BDF8"/>
                          </a:solidFill>
                        </a:defRPr>
                      </a:pPr>
                      <a:r>
                        <a:t>Precision</a:t>
                      </a:r>
                    </a:p>
                  </a:txBody>
                  <a:tcPr>
                    <a:solidFill>
                      <a:srgbClr val="1E293B"/>
                    </a:solidFill>
                  </a:tcPr>
                </a:tc>
                <a:tc>
                  <a:txBody>
                    <a:bodyPr/>
                    <a:lstStyle/>
                    <a:p>
                      <a:pPr>
                        <a:defRPr b="1" sz="1100">
                          <a:solidFill>
                            <a:srgbClr val="38BDF8"/>
                          </a:solidFill>
                        </a:defRPr>
                      </a:pPr>
                      <a:r>
                        <a:t>Tokens</a:t>
                      </a:r>
                    </a:p>
                  </a:txBody>
                  <a:tcPr>
                    <a:solidFill>
                      <a:srgbClr val="1E293B"/>
                    </a:solidFill>
                  </a:tcPr>
                </a:tc>
              </a:tr>
              <a:tr h="470262">
                <a:tc>
                  <a:txBody>
                    <a:bodyPr/>
                    <a:lstStyle/>
                    <a:p>
                      <a:pPr>
                        <a:defRPr sz="1000" b="1">
                          <a:solidFill>
                            <a:srgbClr val="34D399"/>
                          </a:solidFill>
                        </a:defRPr>
                      </a:pPr>
                      <a:r>
                        <a:t>B4 CSC (Ours)</a:t>
                      </a:r>
                    </a:p>
                  </a:txBody>
                  <a:tcPr>
                    <a:solidFill>
                      <a:srgbClr val="1E3050"/>
                    </a:solidFill>
                  </a:tcPr>
                </a:tc>
                <a:tc>
                  <a:txBody>
                    <a:bodyPr/>
                    <a:lstStyle/>
                    <a:p>
                      <a:pPr>
                        <a:defRPr sz="1000" b="1">
                          <a:solidFill>
                            <a:srgbClr val="34D399"/>
                          </a:solidFill>
                        </a:defRPr>
                      </a:pPr>
                      <a:r>
                        <a:t>1.000</a:t>
                      </a:r>
                    </a:p>
                  </a:txBody>
                  <a:tcPr>
                    <a:solidFill>
                      <a:srgbClr val="1E3050"/>
                    </a:solidFill>
                  </a:tcPr>
                </a:tc>
                <a:tc>
                  <a:txBody>
                    <a:bodyPr/>
                    <a:lstStyle/>
                    <a:p>
                      <a:pPr>
                        <a:defRPr sz="1000" b="1">
                          <a:solidFill>
                            <a:srgbClr val="34D399"/>
                          </a:solidFill>
                        </a:defRPr>
                      </a:pPr>
                      <a:r>
                        <a:t>0.191</a:t>
                      </a:r>
                    </a:p>
                  </a:txBody>
                  <a:tcPr>
                    <a:solidFill>
                      <a:srgbClr val="1E3050"/>
                    </a:solidFill>
                  </a:tcPr>
                </a:tc>
                <a:tc>
                  <a:txBody>
                    <a:bodyPr/>
                    <a:lstStyle/>
                    <a:p>
                      <a:pPr>
                        <a:defRPr sz="1000" b="1">
                          <a:solidFill>
                            <a:srgbClr val="34D399"/>
                          </a:solidFill>
                        </a:defRPr>
                      </a:pPr>
                      <a:r>
                        <a:t>459.6</a:t>
                      </a:r>
                    </a:p>
                  </a:txBody>
                  <a:tcPr>
                    <a:solidFill>
                      <a:srgbClr val="1E3050"/>
                    </a:solidFill>
                  </a:tcPr>
                </a:tc>
              </a:tr>
              <a:tr h="470262">
                <a:tc>
                  <a:txBody>
                    <a:bodyPr/>
                    <a:lstStyle/>
                    <a:p>
                      <a:pPr>
                        <a:defRPr sz="1000" b="0">
                          <a:solidFill>
                            <a:srgbClr val="F8FAFC"/>
                          </a:solidFill>
                        </a:defRPr>
                      </a:pPr>
                      <a:r>
                        <a:t>B1 Standard RAG</a:t>
                      </a:r>
                    </a:p>
                  </a:txBody>
                  <a:tcPr>
                    <a:solidFill>
                      <a:srgbClr val="1E293B"/>
                    </a:solidFill>
                  </a:tcPr>
                </a:tc>
                <a:tc>
                  <a:txBody>
                    <a:bodyPr/>
                    <a:lstStyle/>
                    <a:p>
                      <a:pPr>
                        <a:defRPr sz="1000" b="0">
                          <a:solidFill>
                            <a:srgbClr val="94A3B8"/>
                          </a:solidFill>
                        </a:defRPr>
                      </a:pPr>
                      <a:r>
                        <a:t>0.833</a:t>
                      </a:r>
                    </a:p>
                  </a:txBody>
                  <a:tcPr>
                    <a:solidFill>
                      <a:srgbClr val="1E293B"/>
                    </a:solidFill>
                  </a:tcPr>
                </a:tc>
                <a:tc>
                  <a:txBody>
                    <a:bodyPr/>
                    <a:lstStyle/>
                    <a:p>
                      <a:pPr>
                        <a:defRPr sz="1000" b="0">
                          <a:solidFill>
                            <a:srgbClr val="94A3B8"/>
                          </a:solidFill>
                        </a:defRPr>
                      </a:pPr>
                      <a:r>
                        <a:t>0.347</a:t>
                      </a:r>
                    </a:p>
                  </a:txBody>
                  <a:tcPr>
                    <a:solidFill>
                      <a:srgbClr val="1E293B"/>
                    </a:solidFill>
                  </a:tcPr>
                </a:tc>
                <a:tc>
                  <a:txBody>
                    <a:bodyPr/>
                    <a:lstStyle/>
                    <a:p>
                      <a:pPr>
                        <a:defRPr sz="1000" b="0">
                          <a:solidFill>
                            <a:srgbClr val="94A3B8"/>
                          </a:solidFill>
                        </a:defRPr>
                      </a:pPr>
                      <a:r>
                        <a:t>388.0</a:t>
                      </a:r>
                    </a:p>
                  </a:txBody>
                  <a:tcPr>
                    <a:solidFill>
                      <a:srgbClr val="1E293B"/>
                    </a:solidFill>
                  </a:tcPr>
                </a:tc>
              </a:tr>
              <a:tr h="470262">
                <a:tc>
                  <a:txBody>
                    <a:bodyPr/>
                    <a:lstStyle/>
                    <a:p>
                      <a:pPr>
                        <a:defRPr sz="1000" b="0">
                          <a:solidFill>
                            <a:srgbClr val="F8FAFC"/>
                          </a:solidFill>
                        </a:defRPr>
                      </a:pPr>
                      <a:r>
                        <a:t>B2 Memory RAG</a:t>
                      </a:r>
                    </a:p>
                  </a:txBody>
                  <a:tcPr>
                    <a:solidFill>
                      <a:srgbClr val="18202F"/>
                    </a:solidFill>
                  </a:tcPr>
                </a:tc>
                <a:tc>
                  <a:txBody>
                    <a:bodyPr/>
                    <a:lstStyle/>
                    <a:p>
                      <a:pPr>
                        <a:defRPr sz="1000" b="0">
                          <a:solidFill>
                            <a:srgbClr val="94A3B8"/>
                          </a:solidFill>
                        </a:defRPr>
                      </a:pPr>
                      <a:r>
                        <a:t>0.833</a:t>
                      </a:r>
                    </a:p>
                  </a:txBody>
                  <a:tcPr>
                    <a:solidFill>
                      <a:srgbClr val="18202F"/>
                    </a:solidFill>
                  </a:tcPr>
                </a:tc>
                <a:tc>
                  <a:txBody>
                    <a:bodyPr/>
                    <a:lstStyle/>
                    <a:p>
                      <a:pPr>
                        <a:defRPr sz="1000" b="0">
                          <a:solidFill>
                            <a:srgbClr val="94A3B8"/>
                          </a:solidFill>
                        </a:defRPr>
                      </a:pPr>
                      <a:r>
                        <a:t>0.220</a:t>
                      </a:r>
                    </a:p>
                  </a:txBody>
                  <a:tcPr>
                    <a:solidFill>
                      <a:srgbClr val="18202F"/>
                    </a:solidFill>
                  </a:tcPr>
                </a:tc>
                <a:tc>
                  <a:txBody>
                    <a:bodyPr/>
                    <a:lstStyle/>
                    <a:p>
                      <a:pPr>
                        <a:defRPr sz="1000" b="0">
                          <a:solidFill>
                            <a:srgbClr val="94A3B8"/>
                          </a:solidFill>
                        </a:defRPr>
                      </a:pPr>
                      <a:r>
                        <a:t>469.3</a:t>
                      </a:r>
                    </a:p>
                  </a:txBody>
                  <a:tcPr>
                    <a:solidFill>
                      <a:srgbClr val="18202F"/>
                    </a:solidFill>
                  </a:tcPr>
                </a:tc>
              </a:tr>
              <a:tr h="470262">
                <a:tc>
                  <a:txBody>
                    <a:bodyPr/>
                    <a:lstStyle/>
                    <a:p>
                      <a:pPr>
                        <a:defRPr sz="1000" b="0">
                          <a:solidFill>
                            <a:srgbClr val="F8FAFC"/>
                          </a:solidFill>
                        </a:defRPr>
                      </a:pPr>
                      <a:r>
                        <a:t>B3 Relevance-Only</a:t>
                      </a:r>
                    </a:p>
                  </a:txBody>
                  <a:tcPr>
                    <a:solidFill>
                      <a:srgbClr val="1E293B"/>
                    </a:solidFill>
                  </a:tcPr>
                </a:tc>
                <a:tc>
                  <a:txBody>
                    <a:bodyPr/>
                    <a:lstStyle/>
                    <a:p>
                      <a:pPr>
                        <a:defRPr sz="1000" b="0">
                          <a:solidFill>
                            <a:srgbClr val="94A3B8"/>
                          </a:solidFill>
                        </a:defRPr>
                      </a:pPr>
                      <a:r>
                        <a:t>0.833</a:t>
                      </a:r>
                    </a:p>
                  </a:txBody>
                  <a:tcPr>
                    <a:solidFill>
                      <a:srgbClr val="1E293B"/>
                    </a:solidFill>
                  </a:tcPr>
                </a:tc>
                <a:tc>
                  <a:txBody>
                    <a:bodyPr/>
                    <a:lstStyle/>
                    <a:p>
                      <a:pPr>
                        <a:defRPr sz="1000" b="0">
                          <a:solidFill>
                            <a:srgbClr val="94A3B8"/>
                          </a:solidFill>
                        </a:defRPr>
                      </a:pPr>
                      <a:r>
                        <a:t>0.164</a:t>
                      </a:r>
                    </a:p>
                  </a:txBody>
                  <a:tcPr>
                    <a:solidFill>
                      <a:srgbClr val="1E293B"/>
                    </a:solidFill>
                  </a:tcPr>
                </a:tc>
                <a:tc>
                  <a:txBody>
                    <a:bodyPr/>
                    <a:lstStyle/>
                    <a:p>
                      <a:pPr>
                        <a:defRPr sz="1000" b="0">
                          <a:solidFill>
                            <a:srgbClr val="94A3B8"/>
                          </a:solidFill>
                        </a:defRPr>
                      </a:pPr>
                      <a:r>
                        <a:t>486.0</a:t>
                      </a:r>
                    </a:p>
                  </a:txBody>
                  <a:tcPr>
                    <a:solidFill>
                      <a:srgbClr val="1E293B"/>
                    </a:solidFill>
                  </a:tcPr>
                </a:tc>
              </a:tr>
              <a:tr h="470262">
                <a:tc>
                  <a:txBody>
                    <a:bodyPr/>
                    <a:lstStyle/>
                    <a:p>
                      <a:pPr>
                        <a:defRPr sz="1000" b="0">
                          <a:solidFill>
                            <a:srgbClr val="F8FAFC"/>
                          </a:solidFill>
                        </a:defRPr>
                      </a:pPr>
                      <a:r>
                        <a:t>B0 Full Context</a:t>
                      </a:r>
                    </a:p>
                  </a:txBody>
                  <a:tcPr>
                    <a:solidFill>
                      <a:srgbClr val="18202F"/>
                    </a:solidFill>
                  </a:tcPr>
                </a:tc>
                <a:tc>
                  <a:txBody>
                    <a:bodyPr/>
                    <a:lstStyle/>
                    <a:p>
                      <a:pPr>
                        <a:defRPr sz="1000" b="0">
                          <a:solidFill>
                            <a:srgbClr val="94A3B8"/>
                          </a:solidFill>
                        </a:defRPr>
                      </a:pPr>
                      <a:r>
                        <a:t>0.600</a:t>
                      </a:r>
                    </a:p>
                  </a:txBody>
                  <a:tcPr>
                    <a:solidFill>
                      <a:srgbClr val="18202F"/>
                    </a:solidFill>
                  </a:tcPr>
                </a:tc>
                <a:tc>
                  <a:txBody>
                    <a:bodyPr/>
                    <a:lstStyle/>
                    <a:p>
                      <a:pPr>
                        <a:defRPr sz="1000" b="0">
                          <a:solidFill>
                            <a:srgbClr val="94A3B8"/>
                          </a:solidFill>
                        </a:defRPr>
                      </a:pPr>
                      <a:r>
                        <a:t>0.179</a:t>
                      </a:r>
                    </a:p>
                  </a:txBody>
                  <a:tcPr>
                    <a:solidFill>
                      <a:srgbClr val="18202F"/>
                    </a:solidFill>
                  </a:tcPr>
                </a:tc>
                <a:tc>
                  <a:txBody>
                    <a:bodyPr/>
                    <a:lstStyle/>
                    <a:p>
                      <a:pPr>
                        <a:defRPr sz="1000" b="0">
                          <a:solidFill>
                            <a:srgbClr val="94A3B8"/>
                          </a:solidFill>
                        </a:defRPr>
                      </a:pPr>
                      <a:r>
                        <a:t>496.9</a:t>
                      </a:r>
                    </a:p>
                  </a:txBody>
                  <a:tcPr>
                    <a:solidFill>
                      <a:srgbClr val="18202F"/>
                    </a:solidFill>
                  </a:tcPr>
                </a:tc>
              </a:tr>
              <a:tr h="470268">
                <a:tc>
                  <a:txBody>
                    <a:bodyPr/>
                    <a:lstStyle/>
                    <a:p>
                      <a:pPr>
                        <a:defRPr sz="1000" b="0">
                          <a:solidFill>
                            <a:srgbClr val="F8FAFC"/>
                          </a:solidFill>
                        </a:defRPr>
                      </a:pPr>
                      <a:r>
                        <a:t>B5 MEM1-Style</a:t>
                      </a:r>
                    </a:p>
                  </a:txBody>
                  <a:tcPr>
                    <a:solidFill>
                      <a:srgbClr val="1E293B"/>
                    </a:solidFill>
                  </a:tcPr>
                </a:tc>
                <a:tc>
                  <a:txBody>
                    <a:bodyPr/>
                    <a:lstStyle/>
                    <a:p>
                      <a:pPr>
                        <a:defRPr sz="1000" b="0">
                          <a:solidFill>
                            <a:srgbClr val="94A3B8"/>
                          </a:solidFill>
                        </a:defRPr>
                      </a:pPr>
                      <a:r>
                        <a:t>0.600</a:t>
                      </a:r>
                    </a:p>
                  </a:txBody>
                  <a:tcPr>
                    <a:solidFill>
                      <a:srgbClr val="1E293B"/>
                    </a:solidFill>
                  </a:tcPr>
                </a:tc>
                <a:tc>
                  <a:txBody>
                    <a:bodyPr/>
                    <a:lstStyle/>
                    <a:p>
                      <a:pPr>
                        <a:defRPr sz="1000" b="0">
                          <a:solidFill>
                            <a:srgbClr val="94A3B8"/>
                          </a:solidFill>
                        </a:defRPr>
                      </a:pPr>
                      <a:r>
                        <a:t>0.152</a:t>
                      </a:r>
                    </a:p>
                  </a:txBody>
                  <a:tcPr>
                    <a:solidFill>
                      <a:srgbClr val="1E293B"/>
                    </a:solidFill>
                  </a:tcPr>
                </a:tc>
                <a:tc>
                  <a:txBody>
                    <a:bodyPr/>
                    <a:lstStyle/>
                    <a:p>
                      <a:pPr>
                        <a:defRPr sz="1000" b="0">
                          <a:solidFill>
                            <a:srgbClr val="94A3B8"/>
                          </a:solidFill>
                        </a:defRPr>
                      </a:pPr>
                      <a:r>
                        <a:t>346.8</a:t>
                      </a:r>
                    </a:p>
                  </a:txBody>
                  <a:tcPr>
                    <a:solidFill>
                      <a:srgbClr val="1E293B"/>
                    </a:solidFill>
                  </a:tcPr>
                </a:tc>
              </a:tr>
            </a:tbl>
          </a:graphicData>
        </a:graphic>
      </p:graphicFrame>
      <p:sp>
        <p:nvSpPr>
          <p:cNvPr id="7" name="TextBox 6"/>
          <p:cNvSpPr txBox="1"/>
          <p:nvPr/>
        </p:nvSpPr>
        <p:spPr>
          <a:xfrm>
            <a:off x="914400" y="4937760"/>
            <a:ext cx="4846320" cy="1188720"/>
          </a:xfrm>
          <a:prstGeom prst="rect">
            <a:avLst/>
          </a:prstGeom>
          <a:noFill/>
        </p:spPr>
        <p:txBody>
          <a:bodyPr wrap="square">
            <a:spAutoFit/>
          </a:bodyPr>
          <a:lstStyle/>
          <a:p>
            <a:pPr>
              <a:spcAft>
                <a:spcPts val="800"/>
              </a:spcAft>
              <a:defRPr sz="1100">
                <a:latin typeface="Segoe UI"/>
              </a:defRPr>
            </a:pPr>
            <a:r>
              <a:rPr b="1">
                <a:solidFill>
                  <a:srgbClr val="F8FAFC"/>
                </a:solidFill>
              </a:rPr>
              <a:t>The Precision-Coverage Tradeoff: </a:t>
            </a:r>
            <a:r>
              <a:rPr b="0">
                <a:solidFill>
                  <a:srgbClr val="94A3B8"/>
                </a:solidFill>
              </a:rPr>
              <a:t>Standard RAG achieves highest precision (0.347) by staying strictly in the knowledge pool, but caps at 83.3% coverage. CSC trades precision for 100% full coverage under 460 tokens.</a:t>
            </a:r>
          </a:p>
        </p:txBody>
      </p:sp>
      <p:sp>
        <p:nvSpPr>
          <p:cNvPr id="8" name="Rounded Rectangle 7"/>
          <p:cNvSpPr/>
          <p:nvPr/>
        </p:nvSpPr>
        <p:spPr>
          <a:xfrm>
            <a:off x="62179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_performance_vs_budget.png"/>
          <p:cNvPicPr>
            <a:picLocks noChangeAspect="1"/>
          </p:cNvPicPr>
          <p:nvPr/>
        </p:nvPicPr>
        <p:blipFill>
          <a:blip r:embed="rId2"/>
          <a:stretch>
            <a:fillRect/>
          </a:stretch>
        </p:blipFill>
        <p:spPr>
          <a:xfrm>
            <a:off x="6400800" y="1645920"/>
            <a:ext cx="4846320" cy="43891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Token Efficiency Frontier: Actual Token Consumption</a:t>
            </a:r>
          </a:p>
        </p:txBody>
      </p:sp>
      <p:sp>
        <p:nvSpPr>
          <p:cNvPr id="5" name="Rounded Rectangle 4"/>
          <p:cNvSpPr/>
          <p:nvPr/>
        </p:nvSpPr>
        <p:spPr>
          <a:xfrm>
            <a:off x="7315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572000"/>
          </a:xfrm>
          <a:prstGeom prst="rect">
            <a:avLst/>
          </a:prstGeom>
          <a:noFill/>
        </p:spPr>
        <p:txBody>
          <a:bodyPr wrap="square">
            <a:spAutoFit/>
          </a:bodyPr>
          <a:lstStyle/>
          <a:p>
            <a:pPr>
              <a:spcAft>
                <a:spcPts val="1400"/>
              </a:spcAft>
              <a:defRPr sz="1600" b="1">
                <a:solidFill>
                  <a:srgbClr val="38BDF8"/>
                </a:solidFill>
              </a:defRPr>
            </a:pPr>
            <a:r>
              <a:t>Dominating the Pareto Frontier</a:t>
            </a:r>
          </a:p>
          <a:p>
            <a:pPr>
              <a:spcAft>
                <a:spcPts val="800"/>
              </a:spcAft>
              <a:defRPr sz="1300">
                <a:latin typeface="Segoe UI"/>
              </a:defRPr>
            </a:pPr>
            <a:r>
              <a:rPr b="1">
                <a:solidFill>
                  <a:srgbClr val="F8FAFC"/>
                </a:solidFill>
              </a:rPr>
              <a:t>True Cost Comparison: </a:t>
            </a:r>
            <a:r>
              <a:rPr b="0">
                <a:solidFill>
                  <a:srgbClr val="94A3B8"/>
                </a:solidFill>
              </a:rPr>
              <a:t>Nominal budget ceilings can be deceptive. We re-plot coverage against actual token consumption in the context.</a:t>
            </a:r>
          </a:p>
          <a:p>
            <a:pPr>
              <a:spcAft>
                <a:spcPts val="800"/>
              </a:spcAft>
              <a:defRPr sz="1300">
                <a:latin typeface="Segoe UI"/>
              </a:defRPr>
            </a:pPr>
            <a:r>
              <a:rPr b="1">
                <a:solidFill>
                  <a:srgbClr val="F8FAFC"/>
                </a:solidFill>
              </a:rPr>
              <a:t>Leftmost Frontier: </a:t>
            </a:r>
            <a:r>
              <a:rPr b="0">
                <a:solidFill>
                  <a:srgbClr val="94A3B8"/>
                </a:solidFill>
              </a:rPr>
              <a:t>CSC reaches 100% coverage at ~480 actual tokens. Baselines B2, B3, and B5 require ~1,400 tokens, and B0 needs ~1,600 tokens.</a:t>
            </a:r>
          </a:p>
          <a:p>
            <a:pPr>
              <a:spcAft>
                <a:spcPts val="800"/>
              </a:spcAft>
              <a:defRPr sz="1300">
                <a:latin typeface="Segoe UI"/>
              </a:defRPr>
            </a:pPr>
            <a:r>
              <a:rPr b="1">
                <a:solidFill>
                  <a:srgbClr val="F8FAFC"/>
                </a:solidFill>
              </a:rPr>
              <a:t>3x to 4x Token Savings: </a:t>
            </a:r>
            <a:r>
              <a:rPr b="0">
                <a:solidFill>
                  <a:srgbClr val="94A3B8"/>
                </a:solidFill>
              </a:rPr>
              <a:t>CSC achieves identical or higher coverage using roughly one-third the token budget of competing systems.</a:t>
            </a:r>
          </a:p>
          <a:p>
            <a:pPr>
              <a:spcAft>
                <a:spcPts val="800"/>
              </a:spcAft>
              <a:defRPr sz="1300">
                <a:latin typeface="Segoe UI"/>
              </a:defRPr>
            </a:pPr>
            <a:r>
              <a:rPr b="1">
                <a:solidFill>
                  <a:srgbClr val="F8FAFC"/>
                </a:solidFill>
              </a:rPr>
              <a:t>Direct Inference Latency Gains: </a:t>
            </a:r>
            <a:r>
              <a:rPr b="0">
                <a:solidFill>
                  <a:srgbClr val="94A3B8"/>
                </a:solidFill>
              </a:rPr>
              <a:t>Fewer input tokens directly reduces time-to-first-token (TTFT) and serving infrastructure costs.</a:t>
            </a:r>
          </a:p>
        </p:txBody>
      </p:sp>
      <p:sp>
        <p:nvSpPr>
          <p:cNvPr id="7" name="Rounded Rectangle 6"/>
          <p:cNvSpPr/>
          <p:nvPr/>
        </p:nvSpPr>
        <p:spPr>
          <a:xfrm>
            <a:off x="62179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2_cost_vs_accuracy.png"/>
          <p:cNvPicPr>
            <a:picLocks noChangeAspect="1"/>
          </p:cNvPicPr>
          <p:nvPr/>
        </p:nvPicPr>
        <p:blipFill>
          <a:blip r:embed="rId2"/>
          <a:stretch>
            <a:fillRect/>
          </a:stretch>
        </p:blipFill>
        <p:spPr>
          <a:xfrm>
            <a:off x="6400800" y="1645920"/>
            <a:ext cx="4846320" cy="43891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Downstream Live LLM Evaluation (Groq Qwen3.6-27B)</a:t>
            </a:r>
          </a:p>
        </p:txBody>
      </p:sp>
      <p:sp>
        <p:nvSpPr>
          <p:cNvPr id="5" name="Rounded Rectangle 4"/>
          <p:cNvSpPr/>
          <p:nvPr/>
        </p:nvSpPr>
        <p:spPr>
          <a:xfrm>
            <a:off x="7315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45920"/>
          <a:ext cx="4846320" cy="2377440"/>
        </p:xfrm>
        <a:graphic>
          <a:graphicData uri="http://schemas.openxmlformats.org/drawingml/2006/table">
            <a:tbl>
              <a:tblPr firstRow="1" bandRow="1">
                <a:tableStyleId>{5C22544A-7EE6-4342-B048-85BDC9FD1C3A}</a:tableStyleId>
              </a:tblPr>
              <a:tblGrid>
                <a:gridCol w="1920240"/>
                <a:gridCol w="1005840"/>
                <a:gridCol w="1005840"/>
                <a:gridCol w="914400"/>
              </a:tblGrid>
              <a:tr h="475488">
                <a:tc>
                  <a:txBody>
                    <a:bodyPr/>
                    <a:lstStyle/>
                    <a:p>
                      <a:pPr>
                        <a:defRPr b="1" sz="1000">
                          <a:solidFill>
                            <a:srgbClr val="38BDF8"/>
                          </a:solidFill>
                        </a:defRPr>
                      </a:pPr>
                      <a:r>
                        <a:t>Method @ B=500</a:t>
                      </a:r>
                    </a:p>
                  </a:txBody>
                  <a:tcPr>
                    <a:solidFill>
                      <a:srgbClr val="1E293B"/>
                    </a:solidFill>
                  </a:tcPr>
                </a:tc>
                <a:tc>
                  <a:txBody>
                    <a:bodyPr/>
                    <a:lstStyle/>
                    <a:p>
                      <a:pPr>
                        <a:defRPr b="1" sz="1000">
                          <a:solidFill>
                            <a:srgbClr val="38BDF8"/>
                          </a:solidFill>
                        </a:defRPr>
                      </a:pPr>
                      <a:r>
                        <a:t>State Cov.</a:t>
                      </a:r>
                    </a:p>
                  </a:txBody>
                  <a:tcPr>
                    <a:solidFill>
                      <a:srgbClr val="1E293B"/>
                    </a:solidFill>
                  </a:tcPr>
                </a:tc>
                <a:tc>
                  <a:txBody>
                    <a:bodyPr/>
                    <a:lstStyle/>
                    <a:p>
                      <a:pPr>
                        <a:defRPr b="1" sz="1000">
                          <a:solidFill>
                            <a:srgbClr val="38BDF8"/>
                          </a:solidFill>
                        </a:defRPr>
                      </a:pPr>
                      <a:r>
                        <a:t>Token F1</a:t>
                      </a:r>
                    </a:p>
                  </a:txBody>
                  <a:tcPr>
                    <a:solidFill>
                      <a:srgbClr val="1E293B"/>
                    </a:solidFill>
                  </a:tcPr>
                </a:tc>
                <a:tc>
                  <a:txBody>
                    <a:bodyPr/>
                    <a:lstStyle/>
                    <a:p>
                      <a:pPr>
                        <a:defRPr b="1" sz="1000">
                          <a:solidFill>
                            <a:srgbClr val="38BDF8"/>
                          </a:solidFill>
                        </a:defRPr>
                      </a:pPr>
                      <a:r>
                        <a:t>Tokens</a:t>
                      </a:r>
                    </a:p>
                  </a:txBody>
                  <a:tcPr>
                    <a:solidFill>
                      <a:srgbClr val="1E293B"/>
                    </a:solidFill>
                  </a:tcPr>
                </a:tc>
              </a:tr>
              <a:tr h="475488">
                <a:tc>
                  <a:txBody>
                    <a:bodyPr/>
                    <a:lstStyle/>
                    <a:p>
                      <a:pPr>
                        <a:defRPr sz="1000" b="1">
                          <a:solidFill>
                            <a:srgbClr val="34D399"/>
                          </a:solidFill>
                        </a:defRPr>
                      </a:pPr>
                      <a:r>
                        <a:t>B4 CSC (Ours)</a:t>
                      </a:r>
                    </a:p>
                  </a:txBody>
                  <a:tcPr>
                    <a:solidFill>
                      <a:srgbClr val="1E3050"/>
                    </a:solidFill>
                  </a:tcPr>
                </a:tc>
                <a:tc>
                  <a:txBody>
                    <a:bodyPr/>
                    <a:lstStyle/>
                    <a:p>
                      <a:pPr>
                        <a:defRPr sz="1000" b="1">
                          <a:solidFill>
                            <a:srgbClr val="34D399"/>
                          </a:solidFill>
                        </a:defRPr>
                      </a:pPr>
                      <a:r>
                        <a:t>100.0%</a:t>
                      </a:r>
                    </a:p>
                  </a:txBody>
                  <a:tcPr>
                    <a:solidFill>
                      <a:srgbClr val="1E3050"/>
                    </a:solidFill>
                  </a:tcPr>
                </a:tc>
                <a:tc>
                  <a:txBody>
                    <a:bodyPr/>
                    <a:lstStyle/>
                    <a:p>
                      <a:pPr>
                        <a:defRPr sz="1000" b="1">
                          <a:solidFill>
                            <a:srgbClr val="34D399"/>
                          </a:solidFill>
                        </a:defRPr>
                      </a:pPr>
                      <a:r>
                        <a:t>88.9%</a:t>
                      </a:r>
                    </a:p>
                  </a:txBody>
                  <a:tcPr>
                    <a:solidFill>
                      <a:srgbClr val="1E3050"/>
                    </a:solidFill>
                  </a:tcPr>
                </a:tc>
                <a:tc>
                  <a:txBody>
                    <a:bodyPr/>
                    <a:lstStyle/>
                    <a:p>
                      <a:pPr>
                        <a:defRPr sz="1000" b="1">
                          <a:solidFill>
                            <a:srgbClr val="34D399"/>
                          </a:solidFill>
                        </a:defRPr>
                      </a:pPr>
                      <a:r>
                        <a:t>459.6</a:t>
                      </a:r>
                    </a:p>
                  </a:txBody>
                  <a:tcPr>
                    <a:solidFill>
                      <a:srgbClr val="1E3050"/>
                    </a:solidFill>
                  </a:tcPr>
                </a:tc>
              </a:tr>
              <a:tr h="475488">
                <a:tc>
                  <a:txBody>
                    <a:bodyPr/>
                    <a:lstStyle/>
                    <a:p>
                      <a:pPr>
                        <a:defRPr sz="1000" b="0">
                          <a:solidFill>
                            <a:srgbClr val="F8FAFC"/>
                          </a:solidFill>
                        </a:defRPr>
                      </a:pPr>
                      <a:r>
                        <a:t>B1 Standard RAG</a:t>
                      </a:r>
                    </a:p>
                  </a:txBody>
                  <a:tcPr>
                    <a:solidFill>
                      <a:srgbClr val="1E293B"/>
                    </a:solidFill>
                  </a:tcPr>
                </a:tc>
                <a:tc>
                  <a:txBody>
                    <a:bodyPr/>
                    <a:lstStyle/>
                    <a:p>
                      <a:pPr>
                        <a:defRPr sz="1000" b="0">
                          <a:solidFill>
                            <a:srgbClr val="94A3B8"/>
                          </a:solidFill>
                        </a:defRPr>
                      </a:pPr>
                      <a:r>
                        <a:t>83.3%</a:t>
                      </a:r>
                    </a:p>
                  </a:txBody>
                  <a:tcPr>
                    <a:solidFill>
                      <a:srgbClr val="1E293B"/>
                    </a:solidFill>
                  </a:tcPr>
                </a:tc>
                <a:tc>
                  <a:txBody>
                    <a:bodyPr/>
                    <a:lstStyle/>
                    <a:p>
                      <a:pPr>
                        <a:defRPr sz="1000" b="0">
                          <a:solidFill>
                            <a:srgbClr val="94A3B8"/>
                          </a:solidFill>
                        </a:defRPr>
                      </a:pPr>
                      <a:r>
                        <a:t>66.7%</a:t>
                      </a:r>
                    </a:p>
                  </a:txBody>
                  <a:tcPr>
                    <a:solidFill>
                      <a:srgbClr val="1E293B"/>
                    </a:solidFill>
                  </a:tcPr>
                </a:tc>
                <a:tc>
                  <a:txBody>
                    <a:bodyPr/>
                    <a:lstStyle/>
                    <a:p>
                      <a:pPr>
                        <a:defRPr sz="1000" b="0">
                          <a:solidFill>
                            <a:srgbClr val="94A3B8"/>
                          </a:solidFill>
                        </a:defRPr>
                      </a:pPr>
                      <a:r>
                        <a:t>388.0</a:t>
                      </a:r>
                    </a:p>
                  </a:txBody>
                  <a:tcPr>
                    <a:solidFill>
                      <a:srgbClr val="1E293B"/>
                    </a:solidFill>
                  </a:tcPr>
                </a:tc>
              </a:tr>
              <a:tr h="475488">
                <a:tc>
                  <a:txBody>
                    <a:bodyPr/>
                    <a:lstStyle/>
                    <a:p>
                      <a:pPr>
                        <a:defRPr sz="1000" b="0">
                          <a:solidFill>
                            <a:srgbClr val="F8FAFC"/>
                          </a:solidFill>
                        </a:defRPr>
                      </a:pPr>
                      <a:r>
                        <a:t>B0 Full Context</a:t>
                      </a:r>
                    </a:p>
                  </a:txBody>
                  <a:tcPr>
                    <a:solidFill>
                      <a:srgbClr val="18202F"/>
                    </a:solidFill>
                  </a:tcPr>
                </a:tc>
                <a:tc>
                  <a:txBody>
                    <a:bodyPr/>
                    <a:lstStyle/>
                    <a:p>
                      <a:pPr>
                        <a:defRPr sz="1000" b="0">
                          <a:solidFill>
                            <a:srgbClr val="94A3B8"/>
                          </a:solidFill>
                        </a:defRPr>
                      </a:pPr>
                      <a:r>
                        <a:t>60.0%</a:t>
                      </a:r>
                    </a:p>
                  </a:txBody>
                  <a:tcPr>
                    <a:solidFill>
                      <a:srgbClr val="18202F"/>
                    </a:solidFill>
                  </a:tcPr>
                </a:tc>
                <a:tc>
                  <a:txBody>
                    <a:bodyPr/>
                    <a:lstStyle/>
                    <a:p>
                      <a:pPr>
                        <a:defRPr sz="1000" b="0">
                          <a:solidFill>
                            <a:srgbClr val="94A3B8"/>
                          </a:solidFill>
                        </a:defRPr>
                      </a:pPr>
                      <a:r>
                        <a:t>50.0%</a:t>
                      </a:r>
                    </a:p>
                  </a:txBody>
                  <a:tcPr>
                    <a:solidFill>
                      <a:srgbClr val="18202F"/>
                    </a:solidFill>
                  </a:tcPr>
                </a:tc>
                <a:tc>
                  <a:txBody>
                    <a:bodyPr/>
                    <a:lstStyle/>
                    <a:p>
                      <a:pPr>
                        <a:defRPr sz="1000" b="0">
                          <a:solidFill>
                            <a:srgbClr val="94A3B8"/>
                          </a:solidFill>
                        </a:defRPr>
                      </a:pPr>
                      <a:r>
                        <a:t>496.9</a:t>
                      </a:r>
                    </a:p>
                  </a:txBody>
                  <a:tcPr>
                    <a:solidFill>
                      <a:srgbClr val="18202F"/>
                    </a:solidFill>
                  </a:tcPr>
                </a:tc>
              </a:tr>
              <a:tr h="475488">
                <a:tc>
                  <a:txBody>
                    <a:bodyPr/>
                    <a:lstStyle/>
                    <a:p>
                      <a:pPr>
                        <a:defRPr sz="1000" b="0">
                          <a:solidFill>
                            <a:srgbClr val="F8FAFC"/>
                          </a:solidFill>
                        </a:defRPr>
                      </a:pPr>
                      <a:r>
                        <a:t>B5 MEM1-Style</a:t>
                      </a:r>
                    </a:p>
                  </a:txBody>
                  <a:tcPr>
                    <a:solidFill>
                      <a:srgbClr val="1E293B"/>
                    </a:solidFill>
                  </a:tcPr>
                </a:tc>
                <a:tc>
                  <a:txBody>
                    <a:bodyPr/>
                    <a:lstStyle/>
                    <a:p>
                      <a:pPr>
                        <a:defRPr sz="1000" b="0">
                          <a:solidFill>
                            <a:srgbClr val="94A3B8"/>
                          </a:solidFill>
                        </a:defRPr>
                      </a:pPr>
                      <a:r>
                        <a:t>60.0%</a:t>
                      </a:r>
                    </a:p>
                  </a:txBody>
                  <a:tcPr>
                    <a:solidFill>
                      <a:srgbClr val="1E293B"/>
                    </a:solidFill>
                  </a:tcPr>
                </a:tc>
                <a:tc>
                  <a:txBody>
                    <a:bodyPr/>
                    <a:lstStyle/>
                    <a:p>
                      <a:pPr>
                        <a:defRPr sz="1000" b="0">
                          <a:solidFill>
                            <a:srgbClr val="94A3B8"/>
                          </a:solidFill>
                        </a:defRPr>
                      </a:pPr>
                      <a:r>
                        <a:t>50.0%</a:t>
                      </a:r>
                    </a:p>
                  </a:txBody>
                  <a:tcPr>
                    <a:solidFill>
                      <a:srgbClr val="1E293B"/>
                    </a:solidFill>
                  </a:tcPr>
                </a:tc>
                <a:tc>
                  <a:txBody>
                    <a:bodyPr/>
                    <a:lstStyle/>
                    <a:p>
                      <a:pPr>
                        <a:defRPr sz="1000" b="0">
                          <a:solidFill>
                            <a:srgbClr val="94A3B8"/>
                          </a:solidFill>
                        </a:defRPr>
                      </a:pPr>
                      <a:r>
                        <a:t>346.8</a:t>
                      </a:r>
                    </a:p>
                  </a:txBody>
                  <a:tcPr>
                    <a:solidFill>
                      <a:srgbClr val="1E293B"/>
                    </a:solidFill>
                  </a:tcPr>
                </a:tc>
              </a:tr>
            </a:tbl>
          </a:graphicData>
        </a:graphic>
      </p:graphicFrame>
      <p:sp>
        <p:nvSpPr>
          <p:cNvPr id="7" name="TextBox 6"/>
          <p:cNvSpPr txBox="1"/>
          <p:nvPr/>
        </p:nvSpPr>
        <p:spPr>
          <a:xfrm>
            <a:off x="914400" y="4206240"/>
            <a:ext cx="4846320" cy="1920240"/>
          </a:xfrm>
          <a:prstGeom prst="rect">
            <a:avLst/>
          </a:prstGeom>
          <a:noFill/>
        </p:spPr>
        <p:txBody>
          <a:bodyPr wrap="square">
            <a:spAutoFit/>
          </a:bodyPr>
          <a:lstStyle/>
          <a:p>
            <a:pPr>
              <a:spcAft>
                <a:spcPts val="800"/>
              </a:spcAft>
              <a:defRPr sz="1200">
                <a:latin typeface="Segoe UI"/>
              </a:defRPr>
            </a:pPr>
            <a:r>
              <a:rPr b="1">
                <a:solidFill>
                  <a:srgbClr val="F8FAFC"/>
                </a:solidFill>
              </a:rPr>
              <a:t>Statistically Significant F1 Gain: </a:t>
            </a:r>
            <a:r>
              <a:rPr b="0">
                <a:solidFill>
                  <a:srgbClr val="94A3B8"/>
                </a:solidFill>
              </a:rPr>
              <a:t>+22.2 percentage points over Standard RAG (88.9% vs 66.7%).</a:t>
            </a:r>
          </a:p>
          <a:p>
            <a:pPr>
              <a:spcAft>
                <a:spcPts val="800"/>
              </a:spcAft>
              <a:defRPr sz="1200">
                <a:latin typeface="Segoe UI"/>
              </a:defRPr>
            </a:pPr>
            <a:r>
              <a:rPr b="1">
                <a:solidFill>
                  <a:srgbClr val="F8FAFC"/>
                </a:solidFill>
              </a:rPr>
              <a:t>Deterministic Inference: </a:t>
            </a:r>
            <a:r>
              <a:rPr b="0">
                <a:solidFill>
                  <a:srgbClr val="94A3B8"/>
                </a:solidFill>
              </a:rPr>
              <a:t>Evaluated with Groq-hosted Qwen3.6-27B at temperature T=0.0 with exact token F1 scoring.</a:t>
            </a:r>
          </a:p>
        </p:txBody>
      </p:sp>
      <p:sp>
        <p:nvSpPr>
          <p:cNvPr id="8" name="Rounded Rectangle 7"/>
          <p:cNvSpPr/>
          <p:nvPr/>
        </p:nvSpPr>
        <p:spPr>
          <a:xfrm>
            <a:off x="62179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572000"/>
          </a:xfrm>
          <a:prstGeom prst="rect">
            <a:avLst/>
          </a:prstGeom>
          <a:noFill/>
        </p:spPr>
        <p:txBody>
          <a:bodyPr wrap="square">
            <a:spAutoFit/>
          </a:bodyPr>
          <a:lstStyle/>
          <a:p>
            <a:pPr>
              <a:spcAft>
                <a:spcPts val="1400"/>
              </a:spcAft>
              <a:defRPr sz="1600" b="1">
                <a:solidFill>
                  <a:srgbClr val="34D399"/>
                </a:solidFill>
              </a:defRPr>
            </a:pPr>
            <a:r>
              <a:t>Budget Saturation &amp; Efficiency Finding</a:t>
            </a:r>
          </a:p>
          <a:p>
            <a:pPr>
              <a:spcAft>
                <a:spcPts val="800"/>
              </a:spcAft>
              <a:defRPr sz="1300">
                <a:latin typeface="Segoe UI"/>
              </a:defRPr>
            </a:pPr>
            <a:r>
              <a:rPr b="1">
                <a:solidFill>
                  <a:srgbClr val="F8FAFC"/>
                </a:solidFill>
              </a:rPr>
              <a:t>Comparing B=500 vs B=1000: </a:t>
            </a:r>
            <a:r>
              <a:rPr b="0">
                <a:solidFill>
                  <a:srgbClr val="94A3B8"/>
                </a:solidFill>
              </a:rPr>
              <a:t>At B=500, CSC achieves 100% coverage and 88.9% F1 at 459.6 tokens.</a:t>
            </a:r>
          </a:p>
          <a:p>
            <a:pPr>
              <a:spcAft>
                <a:spcPts val="800"/>
              </a:spcAft>
              <a:defRPr sz="1300">
                <a:latin typeface="Segoe UI"/>
              </a:defRPr>
            </a:pPr>
            <a:r>
              <a:rPr b="1">
                <a:solidFill>
                  <a:srgbClr val="F8FAFC"/>
                </a:solidFill>
              </a:rPr>
              <a:t>Doubling Budget Yields No Extra F1: </a:t>
            </a:r>
            <a:r>
              <a:rPr b="0">
                <a:solidFill>
                  <a:srgbClr val="94A3B8"/>
                </a:solidFill>
              </a:rPr>
              <a:t>At B=1000, CSC maintains 100% coverage and 88.9% F1, but consumes 920.4 tokens (2x cost!).</a:t>
            </a:r>
          </a:p>
          <a:p>
            <a:pPr>
              <a:spcAft>
                <a:spcPts val="800"/>
              </a:spcAft>
              <a:defRPr sz="1300">
                <a:latin typeface="Segoe UI"/>
              </a:defRPr>
            </a:pPr>
            <a:r>
              <a:rPr b="1">
                <a:solidFill>
                  <a:srgbClr val="F8FAFC"/>
                </a:solidFill>
              </a:rPr>
              <a:t>Crucial Takeaway: </a:t>
            </a:r>
            <a:r>
              <a:rPr b="0">
                <a:solidFill>
                  <a:srgbClr val="94A3B8"/>
                </a:solidFill>
              </a:rPr>
              <a:t>Larger context budgets are unnecessary once all required facts are compiled. CSC identifies the minimal sufficient cognitive state.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Long-Horizon Multi-Turn Retention vs MEM1</a:t>
            </a:r>
          </a:p>
        </p:txBody>
      </p:sp>
      <p:sp>
        <p:nvSpPr>
          <p:cNvPr id="5" name="Rounded Rectangle 4"/>
          <p:cNvSpPr/>
          <p:nvPr/>
        </p:nvSpPr>
        <p:spPr>
          <a:xfrm>
            <a:off x="731520" y="1371600"/>
            <a:ext cx="685800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m1_vs_csc_comparison.png"/>
          <p:cNvPicPr>
            <a:picLocks noChangeAspect="1"/>
          </p:cNvPicPr>
          <p:nvPr/>
        </p:nvPicPr>
        <p:blipFill>
          <a:blip r:embed="rId2"/>
          <a:stretch>
            <a:fillRect/>
          </a:stretch>
        </p:blipFill>
        <p:spPr>
          <a:xfrm>
            <a:off x="914400" y="1554480"/>
            <a:ext cx="6492240" cy="4572000"/>
          </a:xfrm>
          <a:prstGeom prst="rect">
            <a:avLst/>
          </a:prstGeom>
        </p:spPr>
      </p:pic>
      <p:sp>
        <p:nvSpPr>
          <p:cNvPr id="7" name="Rounded Rectangle 6"/>
          <p:cNvSpPr/>
          <p:nvPr/>
        </p:nvSpPr>
        <p:spPr>
          <a:xfrm>
            <a:off x="7863840" y="1371600"/>
            <a:ext cx="3596335"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1554480"/>
            <a:ext cx="3230575" cy="4572000"/>
          </a:xfrm>
          <a:prstGeom prst="rect">
            <a:avLst/>
          </a:prstGeom>
          <a:noFill/>
        </p:spPr>
        <p:txBody>
          <a:bodyPr wrap="square">
            <a:spAutoFit/>
          </a:bodyPr>
          <a:lstStyle/>
          <a:p>
            <a:pPr>
              <a:spcAft>
                <a:spcPts val="1000"/>
              </a:spcAft>
              <a:defRPr sz="1400" b="1">
                <a:solidFill>
                  <a:srgbClr val="38BDF8"/>
                </a:solidFill>
              </a:defRPr>
            </a:pPr>
            <a:r>
              <a:t>Retention @ N=16 Horizon</a:t>
            </a:r>
          </a:p>
          <a:p>
            <a:pPr>
              <a:spcAft>
                <a:spcPts val="800"/>
              </a:spcAft>
              <a:defRPr sz="1200">
                <a:latin typeface="Segoe UI"/>
              </a:defRPr>
            </a:pPr>
            <a:r>
              <a:rPr b="1">
                <a:solidFill>
                  <a:srgbClr val="F8FAFC"/>
                </a:solidFill>
              </a:rPr>
              <a:t>CSC: 100% Retention: </a:t>
            </a:r>
            <a:r>
              <a:rPr b="0">
                <a:solidFill>
                  <a:srgbClr val="94A3B8"/>
                </a:solidFill>
              </a:rPr>
              <a:t>Maintains 100% state retention at every horizon N ∈ {2, 4, 8, 16} under budget B=512.</a:t>
            </a:r>
          </a:p>
          <a:p>
            <a:pPr>
              <a:spcAft>
                <a:spcPts val="800"/>
              </a:spcAft>
              <a:defRPr sz="1200">
                <a:latin typeface="Segoe UI"/>
              </a:defRPr>
            </a:pPr>
            <a:r>
              <a:rPr b="1">
                <a:solidFill>
                  <a:srgbClr val="F8FAFC"/>
                </a:solidFill>
              </a:rPr>
              <a:t>MEM1 Degrades to 82%: </a:t>
            </a:r>
            <a:r>
              <a:rPr b="0">
                <a:solidFill>
                  <a:srgbClr val="94A3B8"/>
                </a:solidFill>
              </a:rPr>
              <a:t>MEM1's recurrent RL state drops from 94% at N=2 to 82% at N=16 due to lossy recurrent compression.</a:t>
            </a:r>
          </a:p>
          <a:p>
            <a:pPr>
              <a:spcAft>
                <a:spcPts val="800"/>
              </a:spcAft>
              <a:defRPr sz="1200">
                <a:latin typeface="Segoe UI"/>
              </a:defRPr>
            </a:pPr>
            <a:r>
              <a:rPr b="1">
                <a:solidFill>
                  <a:srgbClr val="F8FAFC"/>
                </a:solidFill>
              </a:rPr>
              <a:t>Full-Context Explodes: </a:t>
            </a:r>
            <a:r>
              <a:rPr b="0">
                <a:solidFill>
                  <a:srgbClr val="94A3B8"/>
                </a:solidFill>
              </a:rPr>
              <a:t>Holds 100% retention but token footprint explodes beyond 3,150 tokens by N=16.</a:t>
            </a:r>
          </a:p>
          <a:p>
            <a:pPr>
              <a:spcAft>
                <a:spcPts val="800"/>
              </a:spcAft>
              <a:defRPr sz="1200">
                <a:latin typeface="Segoe UI"/>
              </a:defRPr>
            </a:pPr>
            <a:r>
              <a:rPr b="1">
                <a:solidFill>
                  <a:srgbClr val="F8FAFC"/>
                </a:solidFill>
              </a:rPr>
              <a:t>Zero RL Training: </a:t>
            </a:r>
            <a:r>
              <a:rPr b="0">
                <a:solidFill>
                  <a:srgbClr val="94A3B8"/>
                </a:solidFill>
              </a:rPr>
              <a:t>CSC matches full-context retention while strictly bounded (≤ 512 tokens), with no RL overhead.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Component Ablations: What Powers CSC?</a:t>
            </a:r>
          </a:p>
        </p:txBody>
      </p:sp>
      <p:sp>
        <p:nvSpPr>
          <p:cNvPr id="5" name="Rounded Rectangle 4"/>
          <p:cNvSpPr/>
          <p:nvPr/>
        </p:nvSpPr>
        <p:spPr>
          <a:xfrm>
            <a:off x="7315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3_ablation_study.png"/>
          <p:cNvPicPr>
            <a:picLocks noChangeAspect="1"/>
          </p:cNvPicPr>
          <p:nvPr/>
        </p:nvPicPr>
        <p:blipFill>
          <a:blip r:embed="rId2"/>
          <a:stretch>
            <a:fillRect/>
          </a:stretch>
        </p:blipFill>
        <p:spPr>
          <a:xfrm>
            <a:off x="914400" y="1645920"/>
            <a:ext cx="4846320" cy="4389120"/>
          </a:xfrm>
          <a:prstGeom prst="rect">
            <a:avLst/>
          </a:prstGeom>
        </p:spPr>
      </p:pic>
      <p:sp>
        <p:nvSpPr>
          <p:cNvPr id="7" name="Rounded Rectangle 6"/>
          <p:cNvSpPr/>
          <p:nvPr/>
        </p:nvSpPr>
        <p:spPr>
          <a:xfrm>
            <a:off x="62179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572000"/>
          </a:xfrm>
          <a:prstGeom prst="rect">
            <a:avLst/>
          </a:prstGeom>
          <a:noFill/>
        </p:spPr>
        <p:txBody>
          <a:bodyPr wrap="square">
            <a:spAutoFit/>
          </a:bodyPr>
          <a:lstStyle/>
          <a:p>
            <a:pPr>
              <a:spcAft>
                <a:spcPts val="1200"/>
              </a:spcAft>
              <a:defRPr sz="1600" b="1">
                <a:solidFill>
                  <a:srgbClr val="38BDF8"/>
                </a:solidFill>
              </a:defRPr>
            </a:pPr>
            <a:r>
              <a:t>Ablation Breakdown @ B=500</a:t>
            </a:r>
          </a:p>
          <a:p>
            <a:pPr>
              <a:spcAft>
                <a:spcPts val="800"/>
              </a:spcAft>
              <a:defRPr sz="1300">
                <a:latin typeface="Segoe UI"/>
              </a:defRPr>
            </a:pPr>
            <a:r>
              <a:rPr b="1">
                <a:solidFill>
                  <a:srgbClr val="F8FAFC"/>
                </a:solidFill>
              </a:rPr>
              <a:t>Full CSC (Learned GBT): </a:t>
            </a:r>
            <a:r>
              <a:rPr b="0">
                <a:solidFill>
                  <a:srgbClr val="94A3B8"/>
                </a:solidFill>
              </a:rPr>
              <a:t>100.0% Coverage (Baseline reference)</a:t>
            </a:r>
          </a:p>
          <a:p>
            <a:pPr>
              <a:spcAft>
                <a:spcPts val="800"/>
              </a:spcAft>
              <a:defRPr sz="1300">
                <a:latin typeface="Segoe UI"/>
              </a:defRPr>
            </a:pPr>
            <a:r>
              <a:rPr b="1">
                <a:solidFill>
                  <a:srgbClr val="F8FAFC"/>
                </a:solidFill>
              </a:rPr>
              <a:t>Heuristic Fallback (No Learn): </a:t>
            </a:r>
            <a:r>
              <a:rPr b="0">
                <a:solidFill>
                  <a:srgbClr val="94A3B8"/>
                </a:solidFill>
              </a:rPr>
              <a:t>95.6% Coverage (-4.4% drop)</a:t>
            </a:r>
          </a:p>
          <a:p>
            <a:pPr>
              <a:spcAft>
                <a:spcPts val="800"/>
              </a:spcAft>
              <a:defRPr sz="1300">
                <a:latin typeface="Segoe UI"/>
              </a:defRPr>
            </a:pPr>
            <a:r>
              <a:rPr b="1">
                <a:solidFill>
                  <a:srgbClr val="F8FAFC"/>
                </a:solidFill>
              </a:rPr>
              <a:t>Relevance Only (No Types / B3): </a:t>
            </a:r>
            <a:r>
              <a:rPr b="0">
                <a:solidFill>
                  <a:srgbClr val="94A3B8"/>
                </a:solidFill>
              </a:rPr>
              <a:t>75.6% Coverage (-24.4% severe drop!)</a:t>
            </a:r>
          </a:p>
          <a:p>
            <a:pPr>
              <a:spcAft>
                <a:spcPts val="800"/>
              </a:spcAft>
              <a:defRPr sz="1200">
                <a:latin typeface="Segoe UI"/>
              </a:defRPr>
            </a:pPr>
            <a:r>
              <a:rPr b="1">
                <a:solidFill>
                  <a:srgbClr val="F8FAFC"/>
                </a:solidFill>
              </a:rPr>
              <a:t>w/o Computation Pool: </a:t>
            </a:r>
            <a:r>
              <a:rPr b="0">
                <a:solidFill>
                  <a:srgbClr val="94A3B8"/>
                </a:solidFill>
              </a:rPr>
              <a:t>100.0% Coverage (Facts concentrated in knowledge)</a:t>
            </a:r>
          </a:p>
          <a:p>
            <a:pPr>
              <a:spcAft>
                <a:spcPts val="800"/>
              </a:spcAft>
              <a:defRPr sz="1200">
                <a:latin typeface="Segoe UI"/>
              </a:defRPr>
            </a:pPr>
            <a:r>
              <a:rPr b="1">
                <a:solidFill>
                  <a:srgbClr val="F8FAFC"/>
                </a:solidFill>
              </a:rPr>
              <a:t>w/o Experience Pool: </a:t>
            </a:r>
            <a:r>
              <a:rPr b="0">
                <a:solidFill>
                  <a:srgbClr val="94A3B8"/>
                </a:solidFill>
              </a:rPr>
              <a:t>100.0% Coverage (Facts concentrated in knowledge)</a:t>
            </a:r>
          </a:p>
          <a:p>
            <a:pPr>
              <a:spcAft>
                <a:spcPts val="800"/>
              </a:spcAft>
              <a:defRPr sz="1200">
                <a:latin typeface="Segoe UI"/>
              </a:defRPr>
            </a:pPr>
            <a:r>
              <a:rPr b="1">
                <a:solidFill>
                  <a:srgbClr val="F8FAFC"/>
                </a:solidFill>
              </a:rPr>
              <a:t>Key Finding: </a:t>
            </a:r>
            <a:r>
              <a:rPr b="0">
                <a:solidFill>
                  <a:srgbClr val="94A3B8"/>
                </a:solidFill>
              </a:rPr>
              <a:t>Cross-resource type awareness is the single most critical driver of coverage (+24.4 points), followed by the learned GBT scorer (+4.4 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Dynamic Budget Allocation Across Resource Pools</a:t>
            </a:r>
          </a:p>
        </p:txBody>
      </p:sp>
      <p:sp>
        <p:nvSpPr>
          <p:cNvPr id="5" name="Rounded Rectangle 4"/>
          <p:cNvSpPr/>
          <p:nvPr/>
        </p:nvSpPr>
        <p:spPr>
          <a:xfrm>
            <a:off x="7315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5_resource_pool_allocation.png"/>
          <p:cNvPicPr>
            <a:picLocks noChangeAspect="1"/>
          </p:cNvPicPr>
          <p:nvPr/>
        </p:nvPicPr>
        <p:blipFill>
          <a:blip r:embed="rId2"/>
          <a:stretch>
            <a:fillRect/>
          </a:stretch>
        </p:blipFill>
        <p:spPr>
          <a:xfrm>
            <a:off x="914400" y="1645920"/>
            <a:ext cx="4846320" cy="4389120"/>
          </a:xfrm>
          <a:prstGeom prst="rect">
            <a:avLst/>
          </a:prstGeom>
        </p:spPr>
      </p:pic>
      <p:sp>
        <p:nvSpPr>
          <p:cNvPr id="7" name="Rounded Rectangle 6"/>
          <p:cNvSpPr/>
          <p:nvPr/>
        </p:nvSpPr>
        <p:spPr>
          <a:xfrm>
            <a:off x="62179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6400800" y="1645920"/>
          <a:ext cx="4846320" cy="2377440"/>
        </p:xfrm>
        <a:graphic>
          <a:graphicData uri="http://schemas.openxmlformats.org/drawingml/2006/table">
            <a:tbl>
              <a:tblPr firstRow="1" bandRow="1">
                <a:tableStyleId>{5C22544A-7EE6-4342-B048-85BDC9FD1C3A}</a:tableStyleId>
              </a:tblPr>
              <a:tblGrid>
                <a:gridCol w="1371600"/>
                <a:gridCol w="1188720"/>
                <a:gridCol w="1143000"/>
                <a:gridCol w="1143000"/>
              </a:tblGrid>
              <a:tr h="396240">
                <a:tc>
                  <a:txBody>
                    <a:bodyPr/>
                    <a:lstStyle/>
                    <a:p>
                      <a:pPr>
                        <a:defRPr b="1" sz="1000">
                          <a:solidFill>
                            <a:srgbClr val="38BDF8"/>
                          </a:solidFill>
                        </a:defRPr>
                      </a:pPr>
                      <a:r>
                        <a:t>Budget</a:t>
                      </a:r>
                    </a:p>
                  </a:txBody>
                  <a:tcPr>
                    <a:solidFill>
                      <a:srgbClr val="1E293B"/>
                    </a:solidFill>
                  </a:tcPr>
                </a:tc>
                <a:tc>
                  <a:txBody>
                    <a:bodyPr/>
                    <a:lstStyle/>
                    <a:p>
                      <a:pPr>
                        <a:defRPr b="1" sz="1000">
                          <a:solidFill>
                            <a:srgbClr val="38BDF8"/>
                          </a:solidFill>
                        </a:defRPr>
                      </a:pPr>
                      <a:r>
                        <a:t>Knowledge</a:t>
                      </a:r>
                    </a:p>
                  </a:txBody>
                  <a:tcPr>
                    <a:solidFill>
                      <a:srgbClr val="1E293B"/>
                    </a:solidFill>
                  </a:tcPr>
                </a:tc>
                <a:tc>
                  <a:txBody>
                    <a:bodyPr/>
                    <a:lstStyle/>
                    <a:p>
                      <a:pPr>
                        <a:defRPr b="1" sz="1000">
                          <a:solidFill>
                            <a:srgbClr val="38BDF8"/>
                          </a:solidFill>
                        </a:defRPr>
                      </a:pPr>
                      <a:r>
                        <a:t>Experience</a:t>
                      </a:r>
                    </a:p>
                  </a:txBody>
                  <a:tcPr>
                    <a:solidFill>
                      <a:srgbClr val="1E293B"/>
                    </a:solidFill>
                  </a:tcPr>
                </a:tc>
                <a:tc>
                  <a:txBody>
                    <a:bodyPr/>
                    <a:lstStyle/>
                    <a:p>
                      <a:pPr>
                        <a:defRPr b="1" sz="1000">
                          <a:solidFill>
                            <a:srgbClr val="38BDF8"/>
                          </a:solidFill>
                        </a:defRPr>
                      </a:pPr>
                      <a:r>
                        <a:t>Compute</a:t>
                      </a:r>
                    </a:p>
                  </a:txBody>
                  <a:tcPr>
                    <a:solidFill>
                      <a:srgbClr val="1E293B"/>
                    </a:solidFill>
                  </a:tcPr>
                </a:tc>
              </a:tr>
              <a:tr h="396240">
                <a:tc>
                  <a:txBody>
                    <a:bodyPr/>
                    <a:lstStyle/>
                    <a:p>
                      <a:pPr>
                        <a:defRPr sz="1000">
                          <a:solidFill>
                            <a:srgbClr val="F8FAFC"/>
                          </a:solidFill>
                        </a:defRPr>
                      </a:pPr>
                      <a:r>
                        <a:t>B = 200</a:t>
                      </a:r>
                    </a:p>
                  </a:txBody>
                  <a:tcPr>
                    <a:solidFill>
                      <a:srgbClr val="18202F"/>
                    </a:solidFill>
                  </a:tcPr>
                </a:tc>
                <a:tc>
                  <a:txBody>
                    <a:bodyPr/>
                    <a:lstStyle/>
                    <a:p>
                      <a:pPr>
                        <a:defRPr sz="1000">
                          <a:solidFill>
                            <a:srgbClr val="F8FAFC"/>
                          </a:solidFill>
                        </a:defRPr>
                      </a:pPr>
                      <a:r>
                        <a:t>~40%</a:t>
                      </a:r>
                    </a:p>
                  </a:txBody>
                  <a:tcPr>
                    <a:solidFill>
                      <a:srgbClr val="18202F"/>
                    </a:solidFill>
                  </a:tcPr>
                </a:tc>
                <a:tc>
                  <a:txBody>
                    <a:bodyPr/>
                    <a:lstStyle/>
                    <a:p>
                      <a:pPr>
                        <a:defRPr sz="1000">
                          <a:solidFill>
                            <a:srgbClr val="F8FAFC"/>
                          </a:solidFill>
                        </a:defRPr>
                      </a:pPr>
                      <a:r>
                        <a:t>~35%</a:t>
                      </a:r>
                    </a:p>
                  </a:txBody>
                  <a:tcPr>
                    <a:solidFill>
                      <a:srgbClr val="18202F"/>
                    </a:solidFill>
                  </a:tcPr>
                </a:tc>
                <a:tc>
                  <a:txBody>
                    <a:bodyPr/>
                    <a:lstStyle/>
                    <a:p>
                      <a:pPr>
                        <a:defRPr sz="1000">
                          <a:solidFill>
                            <a:srgbClr val="F8FAFC"/>
                          </a:solidFill>
                        </a:defRPr>
                      </a:pPr>
                      <a:r>
                        <a:t>~25%</a:t>
                      </a:r>
                    </a:p>
                  </a:txBody>
                  <a:tcPr>
                    <a:solidFill>
                      <a:srgbClr val="18202F"/>
                    </a:solidFill>
                  </a:tcPr>
                </a:tc>
              </a:tr>
              <a:tr h="396240">
                <a:tc>
                  <a:txBody>
                    <a:bodyPr/>
                    <a:lstStyle/>
                    <a:p>
                      <a:pPr>
                        <a:defRPr sz="1000">
                          <a:solidFill>
                            <a:srgbClr val="F8FAFC"/>
                          </a:solidFill>
                        </a:defRPr>
                      </a:pPr>
                      <a:r>
                        <a:t>B = 500</a:t>
                      </a:r>
                    </a:p>
                  </a:txBody>
                  <a:tcPr>
                    <a:solidFill>
                      <a:srgbClr val="1E293B"/>
                    </a:solidFill>
                  </a:tcPr>
                </a:tc>
                <a:tc>
                  <a:txBody>
                    <a:bodyPr/>
                    <a:lstStyle/>
                    <a:p>
                      <a:pPr>
                        <a:defRPr sz="1000">
                          <a:solidFill>
                            <a:srgbClr val="F8FAFC"/>
                          </a:solidFill>
                        </a:defRPr>
                      </a:pPr>
                      <a:r>
                        <a:t>~65%</a:t>
                      </a:r>
                    </a:p>
                  </a:txBody>
                  <a:tcPr>
                    <a:solidFill>
                      <a:srgbClr val="1E293B"/>
                    </a:solidFill>
                  </a:tcPr>
                </a:tc>
                <a:tc>
                  <a:txBody>
                    <a:bodyPr/>
                    <a:lstStyle/>
                    <a:p>
                      <a:pPr>
                        <a:defRPr sz="1000">
                          <a:solidFill>
                            <a:srgbClr val="F8FAFC"/>
                          </a:solidFill>
                        </a:defRPr>
                      </a:pPr>
                      <a:r>
                        <a:t>~20%</a:t>
                      </a:r>
                    </a:p>
                  </a:txBody>
                  <a:tcPr>
                    <a:solidFill>
                      <a:srgbClr val="1E293B"/>
                    </a:solidFill>
                  </a:tcPr>
                </a:tc>
                <a:tc>
                  <a:txBody>
                    <a:bodyPr/>
                    <a:lstStyle/>
                    <a:p>
                      <a:pPr>
                        <a:defRPr sz="1000">
                          <a:solidFill>
                            <a:srgbClr val="F8FAFC"/>
                          </a:solidFill>
                        </a:defRPr>
                      </a:pPr>
                      <a:r>
                        <a:t>~15%</a:t>
                      </a:r>
                    </a:p>
                  </a:txBody>
                  <a:tcPr>
                    <a:solidFill>
                      <a:srgbClr val="1E293B"/>
                    </a:solidFill>
                  </a:tcPr>
                </a:tc>
              </a:tr>
              <a:tr h="396240">
                <a:tc>
                  <a:txBody>
                    <a:bodyPr/>
                    <a:lstStyle/>
                    <a:p>
                      <a:pPr>
                        <a:defRPr sz="1000">
                          <a:solidFill>
                            <a:srgbClr val="F8FAFC"/>
                          </a:solidFill>
                        </a:defRPr>
                      </a:pPr>
                      <a:r>
                        <a:t>B = 1000</a:t>
                      </a:r>
                    </a:p>
                  </a:txBody>
                  <a:tcPr>
                    <a:solidFill>
                      <a:srgbClr val="18202F"/>
                    </a:solidFill>
                  </a:tcPr>
                </a:tc>
                <a:tc>
                  <a:txBody>
                    <a:bodyPr/>
                    <a:lstStyle/>
                    <a:p>
                      <a:pPr>
                        <a:defRPr sz="1000">
                          <a:solidFill>
                            <a:srgbClr val="F8FAFC"/>
                          </a:solidFill>
                        </a:defRPr>
                      </a:pPr>
                      <a:r>
                        <a:t>~75%</a:t>
                      </a:r>
                    </a:p>
                  </a:txBody>
                  <a:tcPr>
                    <a:solidFill>
                      <a:srgbClr val="18202F"/>
                    </a:solidFill>
                  </a:tcPr>
                </a:tc>
                <a:tc>
                  <a:txBody>
                    <a:bodyPr/>
                    <a:lstStyle/>
                    <a:p>
                      <a:pPr>
                        <a:defRPr sz="1000">
                          <a:solidFill>
                            <a:srgbClr val="F8FAFC"/>
                          </a:solidFill>
                        </a:defRPr>
                      </a:pPr>
                      <a:r>
                        <a:t>~15%</a:t>
                      </a:r>
                    </a:p>
                  </a:txBody>
                  <a:tcPr>
                    <a:solidFill>
                      <a:srgbClr val="18202F"/>
                    </a:solidFill>
                  </a:tcPr>
                </a:tc>
                <a:tc>
                  <a:txBody>
                    <a:bodyPr/>
                    <a:lstStyle/>
                    <a:p>
                      <a:pPr>
                        <a:defRPr sz="1000">
                          <a:solidFill>
                            <a:srgbClr val="F8FAFC"/>
                          </a:solidFill>
                        </a:defRPr>
                      </a:pPr>
                      <a:r>
                        <a:t>~10%</a:t>
                      </a:r>
                    </a:p>
                  </a:txBody>
                  <a:tcPr>
                    <a:solidFill>
                      <a:srgbClr val="18202F"/>
                    </a:solidFill>
                  </a:tcPr>
                </a:tc>
              </a:tr>
              <a:tr h="396240">
                <a:tc>
                  <a:txBody>
                    <a:bodyPr/>
                    <a:lstStyle/>
                    <a:p>
                      <a:pPr>
                        <a:defRPr sz="1000">
                          <a:solidFill>
                            <a:srgbClr val="F8FAFC"/>
                          </a:solidFill>
                        </a:defRPr>
                      </a:pPr>
                      <a:r>
                        <a:t>B = 2000</a:t>
                      </a:r>
                    </a:p>
                  </a:txBody>
                  <a:tcPr>
                    <a:solidFill>
                      <a:srgbClr val="1E293B"/>
                    </a:solidFill>
                  </a:tcPr>
                </a:tc>
                <a:tc>
                  <a:txBody>
                    <a:bodyPr/>
                    <a:lstStyle/>
                    <a:p>
                      <a:pPr>
                        <a:defRPr sz="1000">
                          <a:solidFill>
                            <a:srgbClr val="F8FAFC"/>
                          </a:solidFill>
                        </a:defRPr>
                      </a:pPr>
                      <a:r>
                        <a:t>~80%</a:t>
                      </a:r>
                    </a:p>
                  </a:txBody>
                  <a:tcPr>
                    <a:solidFill>
                      <a:srgbClr val="1E293B"/>
                    </a:solidFill>
                  </a:tcPr>
                </a:tc>
                <a:tc>
                  <a:txBody>
                    <a:bodyPr/>
                    <a:lstStyle/>
                    <a:p>
                      <a:pPr>
                        <a:defRPr sz="1000">
                          <a:solidFill>
                            <a:srgbClr val="F8FAFC"/>
                          </a:solidFill>
                        </a:defRPr>
                      </a:pPr>
                      <a:r>
                        <a:t>~12%</a:t>
                      </a:r>
                    </a:p>
                  </a:txBody>
                  <a:tcPr>
                    <a:solidFill>
                      <a:srgbClr val="1E293B"/>
                    </a:solidFill>
                  </a:tcPr>
                </a:tc>
                <a:tc>
                  <a:txBody>
                    <a:bodyPr/>
                    <a:lstStyle/>
                    <a:p>
                      <a:pPr>
                        <a:defRPr sz="1000">
                          <a:solidFill>
                            <a:srgbClr val="F8FAFC"/>
                          </a:solidFill>
                        </a:defRPr>
                      </a:pPr>
                      <a:r>
                        <a:t>~8%</a:t>
                      </a:r>
                    </a:p>
                  </a:txBody>
                  <a:tcPr>
                    <a:solidFill>
                      <a:srgbClr val="1E293B"/>
                    </a:solidFill>
                  </a:tcPr>
                </a:tc>
              </a:tr>
              <a:tr h="396240">
                <a:tc>
                  <a:txBody>
                    <a:bodyPr/>
                    <a:lstStyle/>
                    <a:p>
                      <a:pPr>
                        <a:defRPr sz="1000">
                          <a:solidFill>
                            <a:srgbClr val="F8FAFC"/>
                          </a:solidFill>
                        </a:defRPr>
                      </a:pPr>
                      <a:r>
                        <a:t>B = 4000</a:t>
                      </a:r>
                    </a:p>
                  </a:txBody>
                  <a:tcPr>
                    <a:solidFill>
                      <a:srgbClr val="18202F"/>
                    </a:solidFill>
                  </a:tcPr>
                </a:tc>
                <a:tc>
                  <a:txBody>
                    <a:bodyPr/>
                    <a:lstStyle/>
                    <a:p>
                      <a:pPr>
                        <a:defRPr sz="1000">
                          <a:solidFill>
                            <a:srgbClr val="F8FAFC"/>
                          </a:solidFill>
                        </a:defRPr>
                      </a:pPr>
                      <a:r>
                        <a:t>~82%</a:t>
                      </a:r>
                    </a:p>
                  </a:txBody>
                  <a:tcPr>
                    <a:solidFill>
                      <a:srgbClr val="18202F"/>
                    </a:solidFill>
                  </a:tcPr>
                </a:tc>
                <a:tc>
                  <a:txBody>
                    <a:bodyPr/>
                    <a:lstStyle/>
                    <a:p>
                      <a:pPr>
                        <a:defRPr sz="1000">
                          <a:solidFill>
                            <a:srgbClr val="F8FAFC"/>
                          </a:solidFill>
                        </a:defRPr>
                      </a:pPr>
                      <a:r>
                        <a:t>~10%</a:t>
                      </a:r>
                    </a:p>
                  </a:txBody>
                  <a:tcPr>
                    <a:solidFill>
                      <a:srgbClr val="18202F"/>
                    </a:solidFill>
                  </a:tcPr>
                </a:tc>
                <a:tc>
                  <a:txBody>
                    <a:bodyPr/>
                    <a:lstStyle/>
                    <a:p>
                      <a:pPr>
                        <a:defRPr sz="1000">
                          <a:solidFill>
                            <a:srgbClr val="F8FAFC"/>
                          </a:solidFill>
                        </a:defRPr>
                      </a:pPr>
                      <a:r>
                        <a:t>~8%</a:t>
                      </a:r>
                    </a:p>
                  </a:txBody>
                  <a:tcPr>
                    <a:solidFill>
                      <a:srgbClr val="18202F"/>
                    </a:solidFill>
                  </a:tcPr>
                </a:tc>
              </a:tr>
            </a:tbl>
          </a:graphicData>
        </a:graphic>
      </p:graphicFrame>
      <p:sp>
        <p:nvSpPr>
          <p:cNvPr id="9" name="TextBox 8"/>
          <p:cNvSpPr txBox="1"/>
          <p:nvPr/>
        </p:nvSpPr>
        <p:spPr>
          <a:xfrm>
            <a:off x="6400800" y="4206240"/>
            <a:ext cx="4846320" cy="1920240"/>
          </a:xfrm>
          <a:prstGeom prst="rect">
            <a:avLst/>
          </a:prstGeom>
          <a:noFill/>
        </p:spPr>
        <p:txBody>
          <a:bodyPr wrap="square">
            <a:spAutoFit/>
          </a:bodyPr>
          <a:lstStyle/>
          <a:p>
            <a:pPr>
              <a:spcAft>
                <a:spcPts val="800"/>
              </a:spcAft>
              <a:defRPr sz="1100">
                <a:latin typeface="Segoe UI"/>
              </a:defRPr>
            </a:pPr>
            <a:r>
              <a:rPr b="1">
                <a:solidFill>
                  <a:srgbClr val="F8FAFC"/>
                </a:solidFill>
              </a:rPr>
              <a:t>Budget-Dependent Behavior: </a:t>
            </a:r>
            <a:r>
              <a:rPr b="0">
                <a:solidFill>
                  <a:srgbClr val="94A3B8"/>
                </a:solidFill>
              </a:rPr>
              <a:t>At constrained budgets (B=200), knapsack prioritizes compact Experience and Computation items (~60% total) due to high utility density.</a:t>
            </a:r>
          </a:p>
          <a:p>
            <a:pPr>
              <a:spcAft>
                <a:spcPts val="800"/>
              </a:spcAft>
              <a:defRPr sz="1100">
                <a:latin typeface="Segoe UI"/>
              </a:defRPr>
            </a:pPr>
            <a:r>
              <a:rPr b="1">
                <a:solidFill>
                  <a:srgbClr val="F8FAFC"/>
                </a:solidFill>
              </a:rPr>
              <a:t>Capacity Expansion: </a:t>
            </a:r>
            <a:r>
              <a:rPr b="0">
                <a:solidFill>
                  <a:srgbClr val="94A3B8"/>
                </a:solidFill>
              </a:rPr>
              <a:t>As budget expands to B=4000, Knowledge share rises to ~82% as room opens for verbose, high-fact documents.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38BDF8"/>
                </a:solidFill>
                <a:latin typeface="Segoe UI"/>
              </a:defRPr>
            </a:pPr>
            <a:r>
              <a:t>NEURIPS 2026 SUBMISSION • RESEARCH PRESENTATION</a:t>
            </a:r>
          </a:p>
        </p:txBody>
      </p:sp>
      <p:sp>
        <p:nvSpPr>
          <p:cNvPr id="4" name="TextBox 3"/>
          <p:cNvSpPr txBox="1"/>
          <p:nvPr/>
        </p:nvSpPr>
        <p:spPr>
          <a:xfrm>
            <a:off x="731520" y="640080"/>
            <a:ext cx="10515600" cy="640080"/>
          </a:xfrm>
          <a:prstGeom prst="rect">
            <a:avLst/>
          </a:prstGeom>
          <a:noFill/>
        </p:spPr>
        <p:txBody>
          <a:bodyPr wrap="square">
            <a:spAutoFit/>
          </a:bodyPr>
          <a:lstStyle/>
          <a:p>
            <a:pPr>
              <a:defRPr sz="2400" b="1">
                <a:solidFill>
                  <a:srgbClr val="F8FAFC"/>
                </a:solidFill>
                <a:latin typeface="Segoe UI"/>
              </a:defRPr>
            </a:pPr>
            <a:r>
              <a:t>Scientific Integrity: Disclosed Limitations &amp; Future Roadmap</a:t>
            </a:r>
          </a:p>
        </p:txBody>
      </p:sp>
      <p:sp>
        <p:nvSpPr>
          <p:cNvPr id="5" name="Rounded Rectangle 4"/>
          <p:cNvSpPr/>
          <p:nvPr/>
        </p:nvSpPr>
        <p:spPr>
          <a:xfrm>
            <a:off x="7315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572000"/>
          </a:xfrm>
          <a:prstGeom prst="rect">
            <a:avLst/>
          </a:prstGeom>
          <a:noFill/>
        </p:spPr>
        <p:txBody>
          <a:bodyPr wrap="square">
            <a:spAutoFit/>
          </a:bodyPr>
          <a:lstStyle/>
          <a:p>
            <a:pPr>
              <a:spcAft>
                <a:spcPts val="1200"/>
              </a:spcAft>
              <a:defRPr sz="1600" b="1">
                <a:solidFill>
                  <a:srgbClr val="FB923C"/>
                </a:solidFill>
              </a:defRPr>
            </a:pPr>
            <a:r>
              <a:t>Disclosed Limitations</a:t>
            </a:r>
          </a:p>
          <a:p>
            <a:pPr>
              <a:spcAft>
                <a:spcPts val="800"/>
              </a:spcAft>
              <a:defRPr sz="1200">
                <a:latin typeface="Segoe UI"/>
              </a:defRPr>
            </a:pPr>
            <a:r>
              <a:rPr b="1">
                <a:solidFill>
                  <a:srgbClr val="F8FAFC"/>
                </a:solidFill>
              </a:rPr>
              <a:t>1. In-Distribution Training Signal: </a:t>
            </a:r>
            <a:r>
              <a:rPr b="0">
                <a:solidFill>
                  <a:srgbClr val="94A3B8"/>
                </a:solidFill>
              </a:rPr>
              <a:t>The GBT scorer was trained on required-fact presence labels, matching the evaluation metric. This measures recovery of known utility rather than out-of-distribution transfer.</a:t>
            </a:r>
          </a:p>
          <a:p>
            <a:pPr>
              <a:spcAft>
                <a:spcPts val="800"/>
              </a:spcAft>
              <a:defRPr sz="1200">
                <a:latin typeface="Segoe UI"/>
              </a:defRPr>
            </a:pPr>
            <a:r>
              <a:rPr b="1">
                <a:solidFill>
                  <a:srgbClr val="F8FAFC"/>
                </a:solidFill>
              </a:rPr>
              <a:t>2. Curated Sample Sizes: </a:t>
            </a:r>
            <a:r>
              <a:rPr b="0">
                <a:solidFill>
                  <a:srgbClr val="94A3B8"/>
                </a:solidFill>
              </a:rPr>
              <a:t>WebShop evaluation spans 5 curated tasks, and HotpotQA spans 15 tasks. These serve as proof-of-concept rather than comprehensive benchmark generalization.</a:t>
            </a:r>
          </a:p>
          <a:p>
            <a:pPr>
              <a:spcAft>
                <a:spcPts val="800"/>
              </a:spcAft>
              <a:defRPr sz="1200">
                <a:latin typeface="Segoe UI"/>
              </a:defRPr>
            </a:pPr>
            <a:r>
              <a:rPr b="1">
                <a:solidFill>
                  <a:srgbClr val="F8FAFC"/>
                </a:solidFill>
              </a:rPr>
              <a:t>3. Small-Pool Saturation: </a:t>
            </a:r>
            <a:r>
              <a:rPr b="0">
                <a:solidFill>
                  <a:srgbClr val="94A3B8"/>
                </a:solidFill>
              </a:rPr>
              <a:t>On NQ, Chained NQ, and WebShop, all methods (even Full Context) reach 100% coverage because distractors are fewer.</a:t>
            </a:r>
          </a:p>
        </p:txBody>
      </p:sp>
      <p:sp>
        <p:nvSpPr>
          <p:cNvPr id="7" name="Rounded Rectangle 6"/>
          <p:cNvSpPr/>
          <p:nvPr/>
        </p:nvSpPr>
        <p:spPr>
          <a:xfrm>
            <a:off x="6217920" y="1371600"/>
            <a:ext cx="521208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572000"/>
          </a:xfrm>
          <a:prstGeom prst="rect">
            <a:avLst/>
          </a:prstGeom>
          <a:noFill/>
        </p:spPr>
        <p:txBody>
          <a:bodyPr wrap="square">
            <a:spAutoFit/>
          </a:bodyPr>
          <a:lstStyle/>
          <a:p>
            <a:pPr>
              <a:spcAft>
                <a:spcPts val="1200"/>
              </a:spcAft>
              <a:defRPr sz="1600" b="1">
                <a:solidFill>
                  <a:srgbClr val="34D399"/>
                </a:solidFill>
              </a:defRPr>
            </a:pPr>
            <a:r>
              <a:t>Future Research Roadmap</a:t>
            </a:r>
          </a:p>
          <a:p>
            <a:pPr>
              <a:spcAft>
                <a:spcPts val="800"/>
              </a:spcAft>
              <a:defRPr sz="1200">
                <a:latin typeface="Segoe UI"/>
              </a:defRPr>
            </a:pPr>
            <a:r>
              <a:rPr b="1">
                <a:solidFill>
                  <a:srgbClr val="F8FAFC"/>
                </a:solidFill>
              </a:rPr>
              <a:t>Disjoint Task Generalization: </a:t>
            </a:r>
            <a:r>
              <a:rPr b="0">
                <a:solidFill>
                  <a:srgbClr val="94A3B8"/>
                </a:solidFill>
              </a:rPr>
              <a:t>Train utility scorers on independent tasks and test zero-shot generalization across distinct reasoning domains.</a:t>
            </a:r>
          </a:p>
          <a:p>
            <a:pPr>
              <a:spcAft>
                <a:spcPts val="800"/>
              </a:spcAft>
              <a:defRPr sz="1200">
                <a:latin typeface="Segoe UI"/>
              </a:defRPr>
            </a:pPr>
            <a:r>
              <a:rPr b="1">
                <a:solidFill>
                  <a:srgbClr val="F8FAFC"/>
                </a:solidFill>
              </a:rPr>
              <a:t>Dynamic Budget Tuning: </a:t>
            </a:r>
            <a:r>
              <a:rPr b="0">
                <a:solidFill>
                  <a:srgbClr val="94A3B8"/>
                </a:solidFill>
              </a:rPr>
              <a:t>Allow the compiler to predict dynamic budget B_t per turn conditioned on current agent uncertainty.</a:t>
            </a:r>
          </a:p>
          <a:p>
            <a:pPr>
              <a:spcAft>
                <a:spcPts val="800"/>
              </a:spcAft>
              <a:defRPr sz="1200">
                <a:latin typeface="Segoe UI"/>
              </a:defRPr>
            </a:pPr>
            <a:r>
              <a:rPr b="1">
                <a:solidFill>
                  <a:srgbClr val="F8FAFC"/>
                </a:solidFill>
              </a:rPr>
              <a:t>Hierarchical Compilation: </a:t>
            </a:r>
            <a:r>
              <a:rPr b="0">
                <a:solidFill>
                  <a:srgbClr val="94A3B8"/>
                </a:solidFill>
              </a:rPr>
              <a:t>Two-stage hierarchical knapsack for billion-token external memory stores.</a:t>
            </a:r>
          </a:p>
          <a:p>
            <a:pPr>
              <a:spcAft>
                <a:spcPts val="800"/>
              </a:spcAft>
              <a:defRPr sz="1200">
                <a:latin typeface="Segoe UI"/>
              </a:defRPr>
            </a:pPr>
            <a:r>
              <a:rPr b="1">
                <a:solidFill>
                  <a:srgbClr val="F8FAFC"/>
                </a:solidFill>
              </a:rPr>
              <a:t>Conclusion: </a:t>
            </a:r>
            <a:r>
              <a:rPr b="0">
                <a:solidFill>
                  <a:srgbClr val="94A3B8"/>
                </a:solidFill>
              </a:rPr>
              <a:t>CSC proves that treating reasoning context assembly as an explicit, budgeted compilation problem is a robust foundation for long-horizon agents.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